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60" r:id="rId4"/>
    <p:sldId id="261" r:id="rId5"/>
    <p:sldId id="262" r:id="rId6"/>
    <p:sldId id="263" r:id="rId7"/>
    <p:sldId id="264" r:id="rId8"/>
    <p:sldId id="265" r:id="rId9"/>
    <p:sldId id="266" r:id="rId10"/>
    <p:sldId id="268" r:id="rId11"/>
    <p:sldId id="269" r:id="rId12"/>
    <p:sldId id="270" r:id="rId13"/>
    <p:sldId id="271" r:id="rId14"/>
    <p:sldId id="272" r:id="rId15"/>
    <p:sldId id="273" r:id="rId16"/>
    <p:sldId id="274" r:id="rId17"/>
    <p:sldId id="275" r:id="rId18"/>
    <p:sldId id="276" r:id="rId19"/>
    <p:sldId id="277" r:id="rId20"/>
    <p:sldId id="278" r:id="rId21"/>
    <p:sldId id="279" r:id="rId22"/>
    <p:sldId id="280" r:id="rId23"/>
    <p:sldId id="281" r:id="rId24"/>
    <p:sldId id="282" r:id="rId25"/>
    <p:sldId id="284" r:id="rId26"/>
    <p:sldId id="285" r:id="rId27"/>
    <p:sldId id="286" r:id="rId28"/>
    <p:sldId id="287" r:id="rId29"/>
    <p:sldId id="288" r:id="rId30"/>
    <p:sldId id="289"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77" d="100"/>
          <a:sy n="77" d="100"/>
        </p:scale>
        <p:origin x="912"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9T11:17:31.172"/>
    </inkml:context>
    <inkml:brush xml:id="br0">
      <inkml:brushProperty name="width" value="0.035" units="cm"/>
      <inkml:brushProperty name="height" value="0.035" units="cm"/>
    </inkml:brush>
  </inkml:definitions>
  <inkml:trace contextRef="#ctx0" brushRef="#br0">0 1 24575,'17'2'0,"0"1"0,0 1 0,-1 0 0,1 1 0,-1 1 0,18 9 0,-21-9 0,47 19 0,-1-2 0,-1 3 0,85 52 0,-55-26 0,-55-34 0,-1 2 0,37 29 0,-46-32 0,1-1 0,1-1 0,27 12 0,-24-13 0,-1 1 0,34 26 0,86 57 0,-146-98 0,11 8 0,-1 1 0,0 0 0,13 15 0,11 8 0,-32-29 0,10 8 0,1 0 0,-1 1 0,-1 0 0,20 27 0,-20-24 0,-1-2 0,2 1 0,0-2 0,1 0 0,0 0 0,16 9 0,21 19 0,-25-21 0,46 28 0,-5-4 0,-33-19 0,131 88 0,-142-95 0,0 1 0,0 1 0,35 39 0,9 8 0,52 47 0,-67-62 0,2-1 0,69 47 0,10-8 0,-104-67 0,32 32 0,-44-36 0,1-1 0,1-2 0,1 0 0,41 24 0,4-1 0,-46-26 0,0 0 0,30 12 0,-4-4 0,80 50 0,-13-6 0,307 152 0,-360-188 0,91 48 0,-131-66 0,1 0 0,-1-2 0,29 8 0,-25-9 0,-1 1 0,30 15 0,60 27 0,-42-21 0,-38-13 0,52 33 0,-76-45 0,0 0 0,0 0 0,1 0 0,0-1 0,-1-1 0,16 3 0,-14-3 0,0 1 0,0-1 0,0 2 0,14 6 0,35 19-1365,-50-23-5461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9T11:17:34.304"/>
    </inkml:context>
    <inkml:brush xml:id="br0">
      <inkml:brushProperty name="width" value="0.035" units="cm"/>
      <inkml:brushProperty name="height" value="0.035" units="cm"/>
    </inkml:brush>
  </inkml:definitions>
  <inkml:trace contextRef="#ctx0" brushRef="#br0">4087 0 24575,'-1'5'0,"-1"0"0,0-1 0,0 1 0,-1-1 0,1 0 0,-1 1 0,0-1 0,0 0 0,0-1 0,0 1 0,-7 5 0,4-2 0,-15 13 0,-1-1 0,-1 0 0,0-2 0,-2 0 0,-39 19 0,-11 1 0,52-27 0,1 1 0,0 1 0,0 1 0,1 1 0,-23 20 0,-35 32 0,-2-3 0,-140 82 0,199-131 0,-155 108 0,-39 28 0,182-128 0,-72 49 0,-42 51 0,-67 53 0,-250 216 0,287-246 0,42-36 0,124-99 0,-31 26 0,-45 50 0,66-63 0,-38 29 0,0 1 0,21-12 0,23-24 0,0 0 0,-31 23 0,36-31 0,1 1 0,0 0 0,1 0 0,-11 15 0,11-13 0,-1 0 0,0-1 0,-17 14 0,-38 35 0,50-45 0,-1 1 0,-1-2 0,-30 20 0,18-14 0,-28 24 0,34-26 0,-1 0 0,-29 16 0,19-15 0,0 2 0,1 1 0,-42 37 0,67-52 0,0-1 0,-1-1 0,0 1 0,0-1 0,-14 5 0,-30 17 0,-20 14 0,58-34 0,0 1 0,0 0 0,1 1 0,0 1 0,1 0 0,0 1 0,-20 21 0,24-22 0,-1-1 0,0 0 0,0 0 0,-1-1 0,0 0 0,-22 11 0,17-10 0,0 1 0,-23 19 0,10-3-1365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9T11:33:31.556"/>
    </inkml:context>
    <inkml:brush xml:id="br0">
      <inkml:brushProperty name="width" value="0.035" units="cm"/>
      <inkml:brushProperty name="height" value="0.035" units="cm"/>
      <inkml:brushProperty name="color" value="#E71224"/>
    </inkml:brush>
  </inkml:definitions>
  <inkml:trace contextRef="#ctx0" brushRef="#br0">1 0 24575,'31'2'0,"0"0"0,61 14 0,-24-2 0,1735 242-1180,-1685-243 1272,35 4 452,156-4 0,417-14-544,-367 14 0,150 2 0,2173-16 0,-2416-13 0,-22 0 0,274-12 0,432-31 0,-768 57 0,439-16 0,-491 9 0,-53 3 0,84-14 0,-57 7 0,-74 9 0,0-1 0,54-13 0,-81 15 7,-1 0-1,1 0 0,-1 0 0,1 0 1,-1 0-1,0-1 0,0 1 1,1-1-1,-1 1 0,0-1 1,0 0-1,-1 0 0,1 0 0,0 0 1,-1 0-1,1-1 0,-1 1 1,3-5-1,-4 6-48,0-1-1,1 1 1,-1 0-1,0-1 1,0 1-1,0-1 1,0 1 0,0-1-1,0 1 1,0-1-1,0 1 1,0 0-1,-1-1 1,1 1 0,-1-1-1,1 1 1,-1 0-1,1-1 1,-1 1-1,0 0 1,0 0 0,0-1-1,0 1 1,0 0-1,0 0 1,0 0-1,0 0 1,0 0 0,0 0-1,0 1 1,-1-1-1,1 0 1,0 1-1,-3-2 1,-13-5-6784</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9T11:33:37.273"/>
    </inkml:context>
    <inkml:brush xml:id="br0">
      <inkml:brushProperty name="width" value="0.035" units="cm"/>
      <inkml:brushProperty name="height" value="0.035" units="cm"/>
    </inkml:brush>
  </inkml:definitions>
  <inkml:trace contextRef="#ctx0" brushRef="#br0">0 1 24575,'8'1'0,"0"1"0,0 1 0,0-1 0,0 1 0,-1 0 0,0 1 0,0 0 0,10 7 0,7 3 0,59 34 0,-3 5 0,96 79 0,-68-48 0,485 354 0,-496-358 0,99 106 0,-55-55 0,69 58 0,-41-34 0,35 8 0,-180-145 0,39 23 0,-17-12 0,-46-29 2,1 1 1,-1-1-1,0 0 0,0 0 0,1 1 0,-1-1 1,0 0-1,0 0 0,1 1 0,-1-1 0,0 0 0,1 0 1,-1 0-1,0 0 0,1 0 0,-1 1 0,0-1 0,1 0 1,-1 0-1,0 0 0,1 0 0,-1 0 0,0 0 1,1 0-1,-1 0 0,0 0 0,1 0 0,-1 0 0,0-1 1,1 1-1,-1 0 0,1 0 0,-1-11-1439,-2-3-5389</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9T11:33:39.910"/>
    </inkml:context>
    <inkml:brush xml:id="br0">
      <inkml:brushProperty name="width" value="0.035" units="cm"/>
      <inkml:brushProperty name="height" value="0.035" units="cm"/>
    </inkml:brush>
  </inkml:definitions>
  <inkml:trace contextRef="#ctx0" brushRef="#br0">2181 0 24246,'-2181'1905'0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9T11:33:59.465"/>
    </inkml:context>
    <inkml:brush xml:id="br0">
      <inkml:brushProperty name="width" value="0.035" units="cm"/>
      <inkml:brushProperty name="height" value="0.035" units="cm"/>
      <inkml:brushProperty name="color" value="#E71224"/>
    </inkml:brush>
  </inkml:definitions>
  <inkml:trace contextRef="#ctx0" brushRef="#br0">1 0 24240,'221'6074'0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70987-508A-C993-BA6E-D7492E7A502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D76C429-56C6-7078-BFBA-EDA16A0E99B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8C86C39-03E8-3B83-FE52-8B552A3028EA}"/>
              </a:ext>
            </a:extLst>
          </p:cNvPr>
          <p:cNvSpPr>
            <a:spLocks noGrp="1"/>
          </p:cNvSpPr>
          <p:nvPr>
            <p:ph type="dt" sz="half" idx="10"/>
          </p:nvPr>
        </p:nvSpPr>
        <p:spPr/>
        <p:txBody>
          <a:bodyPr/>
          <a:lstStyle/>
          <a:p>
            <a:fld id="{B60DEE42-35F4-475B-84E1-ED624FA66B94}" type="datetimeFigureOut">
              <a:rPr lang="en-US" smtClean="0"/>
              <a:t>11/9/2025</a:t>
            </a:fld>
            <a:endParaRPr lang="en-US"/>
          </a:p>
        </p:txBody>
      </p:sp>
      <p:sp>
        <p:nvSpPr>
          <p:cNvPr id="5" name="Footer Placeholder 4">
            <a:extLst>
              <a:ext uri="{FF2B5EF4-FFF2-40B4-BE49-F238E27FC236}">
                <a16:creationId xmlns:a16="http://schemas.microsoft.com/office/drawing/2014/main" id="{41BB8517-B63A-9956-C564-B921C4DA0D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5E1ECC-6C41-9ADF-4D94-A4286DF90D65}"/>
              </a:ext>
            </a:extLst>
          </p:cNvPr>
          <p:cNvSpPr>
            <a:spLocks noGrp="1"/>
          </p:cNvSpPr>
          <p:nvPr>
            <p:ph type="sldNum" sz="quarter" idx="12"/>
          </p:nvPr>
        </p:nvSpPr>
        <p:spPr/>
        <p:txBody>
          <a:bodyPr/>
          <a:lstStyle/>
          <a:p>
            <a:fld id="{5C363669-A27C-4A8E-9C38-CD5B28B87380}" type="slidenum">
              <a:rPr lang="en-US" smtClean="0"/>
              <a:t>‹#›</a:t>
            </a:fld>
            <a:endParaRPr lang="en-US"/>
          </a:p>
        </p:txBody>
      </p:sp>
    </p:spTree>
    <p:extLst>
      <p:ext uri="{BB962C8B-B14F-4D97-AF65-F5344CB8AC3E}">
        <p14:creationId xmlns:p14="http://schemas.microsoft.com/office/powerpoint/2010/main" val="6022768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DAE557-B3FB-24C8-509A-762E83EDD9F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B923491-5576-B3AD-D66A-F36AA39CCC3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889D3C-E049-5042-9BCF-A0946FDC86DA}"/>
              </a:ext>
            </a:extLst>
          </p:cNvPr>
          <p:cNvSpPr>
            <a:spLocks noGrp="1"/>
          </p:cNvSpPr>
          <p:nvPr>
            <p:ph type="dt" sz="half" idx="10"/>
          </p:nvPr>
        </p:nvSpPr>
        <p:spPr/>
        <p:txBody>
          <a:bodyPr/>
          <a:lstStyle/>
          <a:p>
            <a:fld id="{B60DEE42-35F4-475B-84E1-ED624FA66B94}" type="datetimeFigureOut">
              <a:rPr lang="en-US" smtClean="0"/>
              <a:t>11/9/2025</a:t>
            </a:fld>
            <a:endParaRPr lang="en-US"/>
          </a:p>
        </p:txBody>
      </p:sp>
      <p:sp>
        <p:nvSpPr>
          <p:cNvPr id="5" name="Footer Placeholder 4">
            <a:extLst>
              <a:ext uri="{FF2B5EF4-FFF2-40B4-BE49-F238E27FC236}">
                <a16:creationId xmlns:a16="http://schemas.microsoft.com/office/drawing/2014/main" id="{C7B510BE-D106-9C34-6A77-8DAB92C27E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517743-410D-F93B-7979-AA31A37FE1E2}"/>
              </a:ext>
            </a:extLst>
          </p:cNvPr>
          <p:cNvSpPr>
            <a:spLocks noGrp="1"/>
          </p:cNvSpPr>
          <p:nvPr>
            <p:ph type="sldNum" sz="quarter" idx="12"/>
          </p:nvPr>
        </p:nvSpPr>
        <p:spPr/>
        <p:txBody>
          <a:bodyPr/>
          <a:lstStyle/>
          <a:p>
            <a:fld id="{5C363669-A27C-4A8E-9C38-CD5B28B87380}" type="slidenum">
              <a:rPr lang="en-US" smtClean="0"/>
              <a:t>‹#›</a:t>
            </a:fld>
            <a:endParaRPr lang="en-US"/>
          </a:p>
        </p:txBody>
      </p:sp>
    </p:spTree>
    <p:extLst>
      <p:ext uri="{BB962C8B-B14F-4D97-AF65-F5344CB8AC3E}">
        <p14:creationId xmlns:p14="http://schemas.microsoft.com/office/powerpoint/2010/main" val="3611572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97A1A-2820-753C-05B3-CCFBFCE287A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D33D3FF-793B-46AE-1C18-5294D13271E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81760CF-33A7-520D-9200-5574E81F57FC}"/>
              </a:ext>
            </a:extLst>
          </p:cNvPr>
          <p:cNvSpPr>
            <a:spLocks noGrp="1"/>
          </p:cNvSpPr>
          <p:nvPr>
            <p:ph type="dt" sz="half" idx="10"/>
          </p:nvPr>
        </p:nvSpPr>
        <p:spPr/>
        <p:txBody>
          <a:bodyPr/>
          <a:lstStyle/>
          <a:p>
            <a:fld id="{B60DEE42-35F4-475B-84E1-ED624FA66B94}" type="datetimeFigureOut">
              <a:rPr lang="en-US" smtClean="0"/>
              <a:t>11/9/2025</a:t>
            </a:fld>
            <a:endParaRPr lang="en-US"/>
          </a:p>
        </p:txBody>
      </p:sp>
      <p:sp>
        <p:nvSpPr>
          <p:cNvPr id="5" name="Footer Placeholder 4">
            <a:extLst>
              <a:ext uri="{FF2B5EF4-FFF2-40B4-BE49-F238E27FC236}">
                <a16:creationId xmlns:a16="http://schemas.microsoft.com/office/drawing/2014/main" id="{6A165D52-EF1D-F460-76C9-369CB8C1B7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FB129F-C0E0-047D-2DE7-FB79115E3E99}"/>
              </a:ext>
            </a:extLst>
          </p:cNvPr>
          <p:cNvSpPr>
            <a:spLocks noGrp="1"/>
          </p:cNvSpPr>
          <p:nvPr>
            <p:ph type="sldNum" sz="quarter" idx="12"/>
          </p:nvPr>
        </p:nvSpPr>
        <p:spPr/>
        <p:txBody>
          <a:bodyPr/>
          <a:lstStyle/>
          <a:p>
            <a:fld id="{5C363669-A27C-4A8E-9C38-CD5B28B87380}" type="slidenum">
              <a:rPr lang="en-US" smtClean="0"/>
              <a:t>‹#›</a:t>
            </a:fld>
            <a:endParaRPr lang="en-US"/>
          </a:p>
        </p:txBody>
      </p:sp>
    </p:spTree>
    <p:extLst>
      <p:ext uri="{BB962C8B-B14F-4D97-AF65-F5344CB8AC3E}">
        <p14:creationId xmlns:p14="http://schemas.microsoft.com/office/powerpoint/2010/main" val="2293500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3AE61-14DD-420A-DF42-853EAE53BD8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7A1534C-9BEE-74A4-035C-6B721CEE6A7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B5EFF8-F1A2-E1E3-425C-18F00C16E3E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65635AD-9D2F-D1A6-B113-BCD3D7BEB308}"/>
              </a:ext>
            </a:extLst>
          </p:cNvPr>
          <p:cNvSpPr>
            <a:spLocks noGrp="1"/>
          </p:cNvSpPr>
          <p:nvPr>
            <p:ph type="dt" sz="half" idx="10"/>
          </p:nvPr>
        </p:nvSpPr>
        <p:spPr/>
        <p:txBody>
          <a:bodyPr/>
          <a:lstStyle/>
          <a:p>
            <a:fld id="{B60DEE42-35F4-475B-84E1-ED624FA66B94}" type="datetimeFigureOut">
              <a:rPr lang="en-US" smtClean="0"/>
              <a:t>11/9/2025</a:t>
            </a:fld>
            <a:endParaRPr lang="en-US"/>
          </a:p>
        </p:txBody>
      </p:sp>
      <p:sp>
        <p:nvSpPr>
          <p:cNvPr id="6" name="Footer Placeholder 5">
            <a:extLst>
              <a:ext uri="{FF2B5EF4-FFF2-40B4-BE49-F238E27FC236}">
                <a16:creationId xmlns:a16="http://schemas.microsoft.com/office/drawing/2014/main" id="{A243370D-E54F-B879-E5E2-1EF14988E32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3634267-7250-C186-2685-045E29827376}"/>
              </a:ext>
            </a:extLst>
          </p:cNvPr>
          <p:cNvSpPr>
            <a:spLocks noGrp="1"/>
          </p:cNvSpPr>
          <p:nvPr>
            <p:ph type="sldNum" sz="quarter" idx="12"/>
          </p:nvPr>
        </p:nvSpPr>
        <p:spPr/>
        <p:txBody>
          <a:bodyPr/>
          <a:lstStyle/>
          <a:p>
            <a:fld id="{5C363669-A27C-4A8E-9C38-CD5B28B87380}" type="slidenum">
              <a:rPr lang="en-US" smtClean="0"/>
              <a:t>‹#›</a:t>
            </a:fld>
            <a:endParaRPr lang="en-US"/>
          </a:p>
        </p:txBody>
      </p:sp>
    </p:spTree>
    <p:extLst>
      <p:ext uri="{BB962C8B-B14F-4D97-AF65-F5344CB8AC3E}">
        <p14:creationId xmlns:p14="http://schemas.microsoft.com/office/powerpoint/2010/main" val="26317346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47D8D4-AAB0-AFC8-9904-07AE69F68C7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A808987-8F42-9E7B-3291-041535D5771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B2C463F-5849-9C96-DB4D-0DF10B391E8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BB587E0-B4A5-D289-75CC-2D8D810BBE2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E42087C-B948-6947-410D-A22243EE186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F07E573-41BB-EB23-EB54-3EC614D3F4B5}"/>
              </a:ext>
            </a:extLst>
          </p:cNvPr>
          <p:cNvSpPr>
            <a:spLocks noGrp="1"/>
          </p:cNvSpPr>
          <p:nvPr>
            <p:ph type="dt" sz="half" idx="10"/>
          </p:nvPr>
        </p:nvSpPr>
        <p:spPr/>
        <p:txBody>
          <a:bodyPr/>
          <a:lstStyle/>
          <a:p>
            <a:fld id="{B60DEE42-35F4-475B-84E1-ED624FA66B94}" type="datetimeFigureOut">
              <a:rPr lang="en-US" smtClean="0"/>
              <a:t>11/9/2025</a:t>
            </a:fld>
            <a:endParaRPr lang="en-US"/>
          </a:p>
        </p:txBody>
      </p:sp>
      <p:sp>
        <p:nvSpPr>
          <p:cNvPr id="8" name="Footer Placeholder 7">
            <a:extLst>
              <a:ext uri="{FF2B5EF4-FFF2-40B4-BE49-F238E27FC236}">
                <a16:creationId xmlns:a16="http://schemas.microsoft.com/office/drawing/2014/main" id="{8079B34D-4082-6001-58D3-4A88CE3F15F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ADE8252-5006-689E-11AB-3B4220B9854F}"/>
              </a:ext>
            </a:extLst>
          </p:cNvPr>
          <p:cNvSpPr>
            <a:spLocks noGrp="1"/>
          </p:cNvSpPr>
          <p:nvPr>
            <p:ph type="sldNum" sz="quarter" idx="12"/>
          </p:nvPr>
        </p:nvSpPr>
        <p:spPr/>
        <p:txBody>
          <a:bodyPr/>
          <a:lstStyle/>
          <a:p>
            <a:fld id="{5C363669-A27C-4A8E-9C38-CD5B28B87380}" type="slidenum">
              <a:rPr lang="en-US" smtClean="0"/>
              <a:t>‹#›</a:t>
            </a:fld>
            <a:endParaRPr lang="en-US"/>
          </a:p>
        </p:txBody>
      </p:sp>
    </p:spTree>
    <p:extLst>
      <p:ext uri="{BB962C8B-B14F-4D97-AF65-F5344CB8AC3E}">
        <p14:creationId xmlns:p14="http://schemas.microsoft.com/office/powerpoint/2010/main" val="11364997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061C64-3C95-A12B-8C37-7AF87333816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FEF64AD-C579-AD73-4389-89D9606E12AF}"/>
              </a:ext>
            </a:extLst>
          </p:cNvPr>
          <p:cNvSpPr>
            <a:spLocks noGrp="1"/>
          </p:cNvSpPr>
          <p:nvPr>
            <p:ph type="dt" sz="half" idx="10"/>
          </p:nvPr>
        </p:nvSpPr>
        <p:spPr/>
        <p:txBody>
          <a:bodyPr/>
          <a:lstStyle/>
          <a:p>
            <a:fld id="{B60DEE42-35F4-475B-84E1-ED624FA66B94}" type="datetimeFigureOut">
              <a:rPr lang="en-US" smtClean="0"/>
              <a:t>11/9/2025</a:t>
            </a:fld>
            <a:endParaRPr lang="en-US"/>
          </a:p>
        </p:txBody>
      </p:sp>
      <p:sp>
        <p:nvSpPr>
          <p:cNvPr id="4" name="Footer Placeholder 3">
            <a:extLst>
              <a:ext uri="{FF2B5EF4-FFF2-40B4-BE49-F238E27FC236}">
                <a16:creationId xmlns:a16="http://schemas.microsoft.com/office/drawing/2014/main" id="{487D5B6C-CBEB-CEB6-29F2-F6D2C0493B7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B2EA0F7-0185-847D-4DE8-556BB6344D4C}"/>
              </a:ext>
            </a:extLst>
          </p:cNvPr>
          <p:cNvSpPr>
            <a:spLocks noGrp="1"/>
          </p:cNvSpPr>
          <p:nvPr>
            <p:ph type="sldNum" sz="quarter" idx="12"/>
          </p:nvPr>
        </p:nvSpPr>
        <p:spPr/>
        <p:txBody>
          <a:bodyPr/>
          <a:lstStyle/>
          <a:p>
            <a:fld id="{5C363669-A27C-4A8E-9C38-CD5B28B87380}" type="slidenum">
              <a:rPr lang="en-US" smtClean="0"/>
              <a:t>‹#›</a:t>
            </a:fld>
            <a:endParaRPr lang="en-US"/>
          </a:p>
        </p:txBody>
      </p:sp>
    </p:spTree>
    <p:extLst>
      <p:ext uri="{BB962C8B-B14F-4D97-AF65-F5344CB8AC3E}">
        <p14:creationId xmlns:p14="http://schemas.microsoft.com/office/powerpoint/2010/main" val="21124722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E80622D-B454-3A09-D6E6-5CCFCB148609}"/>
              </a:ext>
            </a:extLst>
          </p:cNvPr>
          <p:cNvSpPr>
            <a:spLocks noGrp="1"/>
          </p:cNvSpPr>
          <p:nvPr>
            <p:ph type="dt" sz="half" idx="10"/>
          </p:nvPr>
        </p:nvSpPr>
        <p:spPr/>
        <p:txBody>
          <a:bodyPr/>
          <a:lstStyle/>
          <a:p>
            <a:fld id="{B60DEE42-35F4-475B-84E1-ED624FA66B94}" type="datetimeFigureOut">
              <a:rPr lang="en-US" smtClean="0"/>
              <a:t>11/9/2025</a:t>
            </a:fld>
            <a:endParaRPr lang="en-US"/>
          </a:p>
        </p:txBody>
      </p:sp>
      <p:sp>
        <p:nvSpPr>
          <p:cNvPr id="3" name="Footer Placeholder 2">
            <a:extLst>
              <a:ext uri="{FF2B5EF4-FFF2-40B4-BE49-F238E27FC236}">
                <a16:creationId xmlns:a16="http://schemas.microsoft.com/office/drawing/2014/main" id="{6F3FFE9C-6AA9-E50B-52EA-C0650D7657F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7890C47-3D2C-75C7-9191-90D3F097334B}"/>
              </a:ext>
            </a:extLst>
          </p:cNvPr>
          <p:cNvSpPr>
            <a:spLocks noGrp="1"/>
          </p:cNvSpPr>
          <p:nvPr>
            <p:ph type="sldNum" sz="quarter" idx="12"/>
          </p:nvPr>
        </p:nvSpPr>
        <p:spPr/>
        <p:txBody>
          <a:bodyPr/>
          <a:lstStyle/>
          <a:p>
            <a:fld id="{5C363669-A27C-4A8E-9C38-CD5B28B87380}" type="slidenum">
              <a:rPr lang="en-US" smtClean="0"/>
              <a:t>‹#›</a:t>
            </a:fld>
            <a:endParaRPr lang="en-US"/>
          </a:p>
        </p:txBody>
      </p:sp>
    </p:spTree>
    <p:extLst>
      <p:ext uri="{BB962C8B-B14F-4D97-AF65-F5344CB8AC3E}">
        <p14:creationId xmlns:p14="http://schemas.microsoft.com/office/powerpoint/2010/main" val="35353115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E3417-12DE-887D-2E48-37B02D5D0B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FC9754F-4B7F-2032-D41D-86A3D21BC00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CAC6092-F660-5A8D-EDFE-8479A118D2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3A82B3-90CC-70E6-8E64-82B8E7A06AB5}"/>
              </a:ext>
            </a:extLst>
          </p:cNvPr>
          <p:cNvSpPr>
            <a:spLocks noGrp="1"/>
          </p:cNvSpPr>
          <p:nvPr>
            <p:ph type="dt" sz="half" idx="10"/>
          </p:nvPr>
        </p:nvSpPr>
        <p:spPr/>
        <p:txBody>
          <a:bodyPr/>
          <a:lstStyle/>
          <a:p>
            <a:fld id="{B60DEE42-35F4-475B-84E1-ED624FA66B94}" type="datetimeFigureOut">
              <a:rPr lang="en-US" smtClean="0"/>
              <a:t>11/9/2025</a:t>
            </a:fld>
            <a:endParaRPr lang="en-US"/>
          </a:p>
        </p:txBody>
      </p:sp>
      <p:sp>
        <p:nvSpPr>
          <p:cNvPr id="6" name="Footer Placeholder 5">
            <a:extLst>
              <a:ext uri="{FF2B5EF4-FFF2-40B4-BE49-F238E27FC236}">
                <a16:creationId xmlns:a16="http://schemas.microsoft.com/office/drawing/2014/main" id="{06D985A8-F693-9653-53DE-2075FAB67FD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872599C-15E2-17D0-487F-F025519F31A0}"/>
              </a:ext>
            </a:extLst>
          </p:cNvPr>
          <p:cNvSpPr>
            <a:spLocks noGrp="1"/>
          </p:cNvSpPr>
          <p:nvPr>
            <p:ph type="sldNum" sz="quarter" idx="12"/>
          </p:nvPr>
        </p:nvSpPr>
        <p:spPr/>
        <p:txBody>
          <a:bodyPr/>
          <a:lstStyle/>
          <a:p>
            <a:fld id="{5C363669-A27C-4A8E-9C38-CD5B28B87380}" type="slidenum">
              <a:rPr lang="en-US" smtClean="0"/>
              <a:t>‹#›</a:t>
            </a:fld>
            <a:endParaRPr lang="en-US"/>
          </a:p>
        </p:txBody>
      </p:sp>
    </p:spTree>
    <p:extLst>
      <p:ext uri="{BB962C8B-B14F-4D97-AF65-F5344CB8AC3E}">
        <p14:creationId xmlns:p14="http://schemas.microsoft.com/office/powerpoint/2010/main" val="15937186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0FA51-4912-106F-F53E-B6EB1FA6E30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5F3E350-4041-1855-C476-90A4917CB95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E110BC1-6D44-843A-6BCB-626B695125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5B257B3-67D3-AE0D-EF8B-F606645AD00F}"/>
              </a:ext>
            </a:extLst>
          </p:cNvPr>
          <p:cNvSpPr>
            <a:spLocks noGrp="1"/>
          </p:cNvSpPr>
          <p:nvPr>
            <p:ph type="dt" sz="half" idx="10"/>
          </p:nvPr>
        </p:nvSpPr>
        <p:spPr/>
        <p:txBody>
          <a:bodyPr/>
          <a:lstStyle/>
          <a:p>
            <a:fld id="{B60DEE42-35F4-475B-84E1-ED624FA66B94}" type="datetimeFigureOut">
              <a:rPr lang="en-US" smtClean="0"/>
              <a:t>11/9/2025</a:t>
            </a:fld>
            <a:endParaRPr lang="en-US"/>
          </a:p>
        </p:txBody>
      </p:sp>
      <p:sp>
        <p:nvSpPr>
          <p:cNvPr id="6" name="Footer Placeholder 5">
            <a:extLst>
              <a:ext uri="{FF2B5EF4-FFF2-40B4-BE49-F238E27FC236}">
                <a16:creationId xmlns:a16="http://schemas.microsoft.com/office/drawing/2014/main" id="{A605E95C-8B44-2ACB-D0E0-CDB0A585AA8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DC24F7E-7019-75EA-0F81-016E0942F3F0}"/>
              </a:ext>
            </a:extLst>
          </p:cNvPr>
          <p:cNvSpPr>
            <a:spLocks noGrp="1"/>
          </p:cNvSpPr>
          <p:nvPr>
            <p:ph type="sldNum" sz="quarter" idx="12"/>
          </p:nvPr>
        </p:nvSpPr>
        <p:spPr/>
        <p:txBody>
          <a:bodyPr/>
          <a:lstStyle/>
          <a:p>
            <a:fld id="{5C363669-A27C-4A8E-9C38-CD5B28B87380}" type="slidenum">
              <a:rPr lang="en-US" smtClean="0"/>
              <a:t>‹#›</a:t>
            </a:fld>
            <a:endParaRPr lang="en-US"/>
          </a:p>
        </p:txBody>
      </p:sp>
    </p:spTree>
    <p:extLst>
      <p:ext uri="{BB962C8B-B14F-4D97-AF65-F5344CB8AC3E}">
        <p14:creationId xmlns:p14="http://schemas.microsoft.com/office/powerpoint/2010/main" val="35038447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EC280-F67B-CB7A-C449-353E224336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6FC8080-C432-6605-C82D-B664921931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E172AA0-0929-5843-528A-64E6967EF419}"/>
              </a:ext>
            </a:extLst>
          </p:cNvPr>
          <p:cNvSpPr>
            <a:spLocks noGrp="1"/>
          </p:cNvSpPr>
          <p:nvPr>
            <p:ph type="dt" sz="half" idx="10"/>
          </p:nvPr>
        </p:nvSpPr>
        <p:spPr/>
        <p:txBody>
          <a:bodyPr/>
          <a:lstStyle/>
          <a:p>
            <a:fld id="{B60DEE42-35F4-475B-84E1-ED624FA66B94}" type="datetimeFigureOut">
              <a:rPr lang="en-US" smtClean="0"/>
              <a:t>11/9/2025</a:t>
            </a:fld>
            <a:endParaRPr lang="en-US"/>
          </a:p>
        </p:txBody>
      </p:sp>
      <p:sp>
        <p:nvSpPr>
          <p:cNvPr id="5" name="Footer Placeholder 4">
            <a:extLst>
              <a:ext uri="{FF2B5EF4-FFF2-40B4-BE49-F238E27FC236}">
                <a16:creationId xmlns:a16="http://schemas.microsoft.com/office/drawing/2014/main" id="{D1CA5C0B-9C74-1955-5F08-C6B2DF6672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83C1E0-5D2D-96CD-BDD3-2B289880580D}"/>
              </a:ext>
            </a:extLst>
          </p:cNvPr>
          <p:cNvSpPr>
            <a:spLocks noGrp="1"/>
          </p:cNvSpPr>
          <p:nvPr>
            <p:ph type="sldNum" sz="quarter" idx="12"/>
          </p:nvPr>
        </p:nvSpPr>
        <p:spPr/>
        <p:txBody>
          <a:bodyPr/>
          <a:lstStyle/>
          <a:p>
            <a:fld id="{5C363669-A27C-4A8E-9C38-CD5B28B87380}" type="slidenum">
              <a:rPr lang="en-US" smtClean="0"/>
              <a:t>‹#›</a:t>
            </a:fld>
            <a:endParaRPr lang="en-US"/>
          </a:p>
        </p:txBody>
      </p:sp>
    </p:spTree>
    <p:extLst>
      <p:ext uri="{BB962C8B-B14F-4D97-AF65-F5344CB8AC3E}">
        <p14:creationId xmlns:p14="http://schemas.microsoft.com/office/powerpoint/2010/main" val="21852333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5177DF2-5F7E-19FF-7BBB-884435DEA10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B2C5B49-8293-2A43-9181-4BED493C2F8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A965F95-14D9-43C6-C285-711F893492F6}"/>
              </a:ext>
            </a:extLst>
          </p:cNvPr>
          <p:cNvSpPr>
            <a:spLocks noGrp="1"/>
          </p:cNvSpPr>
          <p:nvPr>
            <p:ph type="dt" sz="half" idx="10"/>
          </p:nvPr>
        </p:nvSpPr>
        <p:spPr/>
        <p:txBody>
          <a:bodyPr/>
          <a:lstStyle/>
          <a:p>
            <a:fld id="{B60DEE42-35F4-475B-84E1-ED624FA66B94}" type="datetimeFigureOut">
              <a:rPr lang="en-US" smtClean="0"/>
              <a:t>11/9/2025</a:t>
            </a:fld>
            <a:endParaRPr lang="en-US"/>
          </a:p>
        </p:txBody>
      </p:sp>
      <p:sp>
        <p:nvSpPr>
          <p:cNvPr id="5" name="Footer Placeholder 4">
            <a:extLst>
              <a:ext uri="{FF2B5EF4-FFF2-40B4-BE49-F238E27FC236}">
                <a16:creationId xmlns:a16="http://schemas.microsoft.com/office/drawing/2014/main" id="{ECDCC4E0-7AB4-9CE2-9E0E-34CD76D721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00546C-5D03-9ACE-1E17-D797717992BC}"/>
              </a:ext>
            </a:extLst>
          </p:cNvPr>
          <p:cNvSpPr>
            <a:spLocks noGrp="1"/>
          </p:cNvSpPr>
          <p:nvPr>
            <p:ph type="sldNum" sz="quarter" idx="12"/>
          </p:nvPr>
        </p:nvSpPr>
        <p:spPr/>
        <p:txBody>
          <a:bodyPr/>
          <a:lstStyle/>
          <a:p>
            <a:fld id="{5C363669-A27C-4A8E-9C38-CD5B28B87380}" type="slidenum">
              <a:rPr lang="en-US" smtClean="0"/>
              <a:t>‹#›</a:t>
            </a:fld>
            <a:endParaRPr lang="en-US"/>
          </a:p>
        </p:txBody>
      </p:sp>
    </p:spTree>
    <p:extLst>
      <p:ext uri="{BB962C8B-B14F-4D97-AF65-F5344CB8AC3E}">
        <p14:creationId xmlns:p14="http://schemas.microsoft.com/office/powerpoint/2010/main" val="34968511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C5E394-EB39-9F8B-44C1-F9DA7873D79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29E1B56-1300-D388-5F0F-49430801FF9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B138C8-E062-5E1D-F74B-BD52F0E100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0DEE42-35F4-475B-84E1-ED624FA66B94}" type="datetimeFigureOut">
              <a:rPr lang="en-US" smtClean="0"/>
              <a:t>11/9/2025</a:t>
            </a:fld>
            <a:endParaRPr lang="en-US"/>
          </a:p>
        </p:txBody>
      </p:sp>
      <p:sp>
        <p:nvSpPr>
          <p:cNvPr id="5" name="Footer Placeholder 4">
            <a:extLst>
              <a:ext uri="{FF2B5EF4-FFF2-40B4-BE49-F238E27FC236}">
                <a16:creationId xmlns:a16="http://schemas.microsoft.com/office/drawing/2014/main" id="{6838041F-E972-02A7-1F0C-390DAFB27D9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C9D206F-3703-7553-8CB4-C6411305B0B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C363669-A27C-4A8E-9C38-CD5B28B87380}" type="slidenum">
              <a:rPr lang="en-US" smtClean="0"/>
              <a:t>‹#›</a:t>
            </a:fld>
            <a:endParaRPr lang="en-US"/>
          </a:p>
        </p:txBody>
      </p:sp>
    </p:spTree>
    <p:extLst>
      <p:ext uri="{BB962C8B-B14F-4D97-AF65-F5344CB8AC3E}">
        <p14:creationId xmlns:p14="http://schemas.microsoft.com/office/powerpoint/2010/main" val="19312332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customXml" Target="../ink/ink2.xml"/><Relationship Id="rId4" Type="http://schemas.openxmlformats.org/officeDocument/2006/relationships/image" Target="../media/image21.png"/></Relationships>
</file>

<file path=ppt/slides/_rels/slide28.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customXml" Target="../ink/ink3.xml"/><Relationship Id="rId7" Type="http://schemas.openxmlformats.org/officeDocument/2006/relationships/customXml" Target="../ink/ink5.xml"/><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customXml" Target="../ink/ink4.xml"/><Relationship Id="rId10" Type="http://schemas.openxmlformats.org/officeDocument/2006/relationships/image" Target="../media/image27.png"/><Relationship Id="rId4" Type="http://schemas.openxmlformats.org/officeDocument/2006/relationships/image" Target="../media/image24.png"/><Relationship Id="rId9" Type="http://schemas.openxmlformats.org/officeDocument/2006/relationships/customXml" Target="../ink/ink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2AD70-F01E-D9EF-4901-C4510657E68A}"/>
              </a:ext>
            </a:extLst>
          </p:cNvPr>
          <p:cNvSpPr>
            <a:spLocks noGrp="1"/>
          </p:cNvSpPr>
          <p:nvPr>
            <p:ph type="ctrTitle"/>
          </p:nvPr>
        </p:nvSpPr>
        <p:spPr/>
        <p:txBody>
          <a:bodyPr/>
          <a:lstStyle/>
          <a:p>
            <a:r>
              <a:rPr lang="en-US" dirty="0"/>
              <a:t>Matrix Calculator</a:t>
            </a:r>
          </a:p>
        </p:txBody>
      </p:sp>
      <p:sp>
        <p:nvSpPr>
          <p:cNvPr id="3" name="Subtitle 2">
            <a:extLst>
              <a:ext uri="{FF2B5EF4-FFF2-40B4-BE49-F238E27FC236}">
                <a16:creationId xmlns:a16="http://schemas.microsoft.com/office/drawing/2014/main" id="{C9C3B0A3-1B9A-C481-F212-D1F1B1900662}"/>
              </a:ext>
            </a:extLst>
          </p:cNvPr>
          <p:cNvSpPr>
            <a:spLocks noGrp="1"/>
          </p:cNvSpPr>
          <p:nvPr>
            <p:ph type="subTitle" idx="1"/>
          </p:nvPr>
        </p:nvSpPr>
        <p:spPr/>
        <p:txBody>
          <a:bodyPr/>
          <a:lstStyle/>
          <a:p>
            <a:r>
              <a:rPr lang="en-US" dirty="0"/>
              <a:t>Abdullah Khadim</a:t>
            </a:r>
          </a:p>
          <a:p>
            <a:r>
              <a:rPr lang="en-US" dirty="0"/>
              <a:t>Syed Mateen Ali</a:t>
            </a:r>
          </a:p>
          <a:p>
            <a:r>
              <a:rPr lang="en-US" dirty="0"/>
              <a:t>Bushra Abid</a:t>
            </a:r>
          </a:p>
        </p:txBody>
      </p:sp>
    </p:spTree>
    <p:extLst>
      <p:ext uri="{BB962C8B-B14F-4D97-AF65-F5344CB8AC3E}">
        <p14:creationId xmlns:p14="http://schemas.microsoft.com/office/powerpoint/2010/main" val="24805683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D1793-33A9-164B-A79A-254272A37B0B}"/>
              </a:ext>
            </a:extLst>
          </p:cNvPr>
          <p:cNvSpPr>
            <a:spLocks noGrp="1"/>
          </p:cNvSpPr>
          <p:nvPr>
            <p:ph type="title"/>
          </p:nvPr>
        </p:nvSpPr>
        <p:spPr/>
        <p:txBody>
          <a:bodyPr/>
          <a:lstStyle/>
          <a:p>
            <a:r>
              <a:rPr lang="en-US" dirty="0"/>
              <a:t>Contents</a:t>
            </a:r>
          </a:p>
        </p:txBody>
      </p:sp>
      <p:sp>
        <p:nvSpPr>
          <p:cNvPr id="3" name="Content Placeholder 2">
            <a:extLst>
              <a:ext uri="{FF2B5EF4-FFF2-40B4-BE49-F238E27FC236}">
                <a16:creationId xmlns:a16="http://schemas.microsoft.com/office/drawing/2014/main" id="{D8D72142-1D12-D641-5F26-8EE788F69479}"/>
              </a:ext>
            </a:extLst>
          </p:cNvPr>
          <p:cNvSpPr>
            <a:spLocks noGrp="1"/>
          </p:cNvSpPr>
          <p:nvPr>
            <p:ph idx="1"/>
          </p:nvPr>
        </p:nvSpPr>
        <p:spPr/>
        <p:txBody>
          <a:bodyPr/>
          <a:lstStyle/>
          <a:p>
            <a:r>
              <a:rPr lang="en-US" dirty="0"/>
              <a:t>What is matrix and what are operations performed on it</a:t>
            </a:r>
          </a:p>
          <a:p>
            <a:r>
              <a:rPr lang="en-US" dirty="0"/>
              <a:t>How it helps in our daily lives</a:t>
            </a:r>
          </a:p>
          <a:p>
            <a:r>
              <a:rPr lang="en-US" dirty="0"/>
              <a:t>Its use in Computer Science and real world</a:t>
            </a:r>
          </a:p>
          <a:p>
            <a:r>
              <a:rPr lang="en-US" dirty="0"/>
              <a:t>Explaining Operations</a:t>
            </a:r>
          </a:p>
          <a:p>
            <a:r>
              <a:rPr lang="en-US" dirty="0"/>
              <a:t>Algorithm and Flowchart</a:t>
            </a:r>
          </a:p>
          <a:p>
            <a:r>
              <a:rPr lang="en-US" dirty="0"/>
              <a:t>Tools in C used for it</a:t>
            </a:r>
          </a:p>
          <a:p>
            <a:r>
              <a:rPr lang="en-US" dirty="0"/>
              <a:t>How we make those operations in C language</a:t>
            </a:r>
          </a:p>
          <a:p>
            <a:r>
              <a:rPr lang="en-US" dirty="0"/>
              <a:t>The Program</a:t>
            </a:r>
          </a:p>
        </p:txBody>
      </p:sp>
    </p:spTree>
    <p:extLst>
      <p:ext uri="{BB962C8B-B14F-4D97-AF65-F5344CB8AC3E}">
        <p14:creationId xmlns:p14="http://schemas.microsoft.com/office/powerpoint/2010/main" val="9662719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A7FD9-2DF9-DAF2-50E9-5C6AABEBE3A2}"/>
              </a:ext>
            </a:extLst>
          </p:cNvPr>
          <p:cNvSpPr>
            <a:spLocks noGrp="1"/>
          </p:cNvSpPr>
          <p:nvPr>
            <p:ph type="title"/>
          </p:nvPr>
        </p:nvSpPr>
        <p:spPr/>
        <p:txBody>
          <a:bodyPr/>
          <a:lstStyle/>
          <a:p>
            <a:r>
              <a:rPr lang="en-US" dirty="0"/>
              <a:t>Matrix</a:t>
            </a:r>
          </a:p>
        </p:txBody>
      </p:sp>
      <p:sp>
        <p:nvSpPr>
          <p:cNvPr id="3" name="Content Placeholder 2">
            <a:extLst>
              <a:ext uri="{FF2B5EF4-FFF2-40B4-BE49-F238E27FC236}">
                <a16:creationId xmlns:a16="http://schemas.microsoft.com/office/drawing/2014/main" id="{41BF9125-1C1C-B2AE-E05D-039100ED0CDD}"/>
              </a:ext>
            </a:extLst>
          </p:cNvPr>
          <p:cNvSpPr>
            <a:spLocks noGrp="1"/>
          </p:cNvSpPr>
          <p:nvPr>
            <p:ph idx="1"/>
          </p:nvPr>
        </p:nvSpPr>
        <p:spPr/>
        <p:txBody>
          <a:bodyPr/>
          <a:lstStyle/>
          <a:p>
            <a:r>
              <a:rPr lang="en-US" dirty="0"/>
              <a:t>A matrix is a rectangular array of numbers, symbols, or expressions arranged in rows and columns, typically enclosed in square brackets. The numbers are called the elements or entries of the matrix, and the arrangement is used to represent data and solve systems of linear equations. A matrix's size is defined by its number of rows and columns, for example, an “m x n" matrix has “m” rows and “n” columns. for example </a:t>
            </a:r>
          </a:p>
        </p:txBody>
      </p:sp>
      <p:pic>
        <p:nvPicPr>
          <p:cNvPr id="8" name="Picture 7">
            <a:extLst>
              <a:ext uri="{FF2B5EF4-FFF2-40B4-BE49-F238E27FC236}">
                <a16:creationId xmlns:a16="http://schemas.microsoft.com/office/drawing/2014/main" id="{E30DA5B6-7DB0-6C51-10E9-D6F922B24E31}"/>
              </a:ext>
            </a:extLst>
          </p:cNvPr>
          <p:cNvPicPr>
            <a:picLocks noChangeAspect="1"/>
          </p:cNvPicPr>
          <p:nvPr/>
        </p:nvPicPr>
        <p:blipFill>
          <a:blip r:embed="rId2"/>
          <a:stretch>
            <a:fillRect/>
          </a:stretch>
        </p:blipFill>
        <p:spPr>
          <a:xfrm>
            <a:off x="4473807" y="4379086"/>
            <a:ext cx="2926334" cy="2194750"/>
          </a:xfrm>
          <a:prstGeom prst="rect">
            <a:avLst/>
          </a:prstGeom>
        </p:spPr>
      </p:pic>
    </p:spTree>
    <p:extLst>
      <p:ext uri="{BB962C8B-B14F-4D97-AF65-F5344CB8AC3E}">
        <p14:creationId xmlns:p14="http://schemas.microsoft.com/office/powerpoint/2010/main" val="36405231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BFD76A-8AAA-53FA-053D-D644265AF045}"/>
              </a:ext>
            </a:extLst>
          </p:cNvPr>
          <p:cNvSpPr>
            <a:spLocks noGrp="1"/>
          </p:cNvSpPr>
          <p:nvPr>
            <p:ph type="title"/>
          </p:nvPr>
        </p:nvSpPr>
        <p:spPr/>
        <p:txBody>
          <a:bodyPr/>
          <a:lstStyle/>
          <a:p>
            <a:r>
              <a:rPr lang="en-US" dirty="0"/>
              <a:t>Why do we use matrices</a:t>
            </a:r>
          </a:p>
        </p:txBody>
      </p:sp>
      <p:sp>
        <p:nvSpPr>
          <p:cNvPr id="7" name="Content Placeholder 6">
            <a:extLst>
              <a:ext uri="{FF2B5EF4-FFF2-40B4-BE49-F238E27FC236}">
                <a16:creationId xmlns:a16="http://schemas.microsoft.com/office/drawing/2014/main" id="{E2262940-515E-EDCF-1BB4-6B36EFF4750A}"/>
              </a:ext>
            </a:extLst>
          </p:cNvPr>
          <p:cNvSpPr>
            <a:spLocks noGrp="1"/>
          </p:cNvSpPr>
          <p:nvPr>
            <p:ph idx="1"/>
          </p:nvPr>
        </p:nvSpPr>
        <p:spPr/>
        <p:txBody>
          <a:bodyPr>
            <a:normAutofit lnSpcReduction="10000"/>
          </a:bodyPr>
          <a:lstStyle/>
          <a:p>
            <a:r>
              <a:rPr lang="en-US" dirty="0"/>
              <a:t>Computer science and technology</a:t>
            </a:r>
          </a:p>
          <a:p>
            <a:r>
              <a:rPr lang="en-US" dirty="0"/>
              <a:t>Computer Graphics: Matrices are used to represent and manipulate objects in 2D and 3D space, including transformations like scaling, rotation, and translation. </a:t>
            </a:r>
          </a:p>
          <a:p>
            <a:r>
              <a:rPr lang="en-US" dirty="0"/>
              <a:t>Robotics: Robots use matrices to program their movements, calculate navigation, and perform tasks. </a:t>
            </a:r>
          </a:p>
          <a:p>
            <a:r>
              <a:rPr lang="en-US" dirty="0"/>
              <a:t>Data Encryption: Matrices are used to encrypt and decrypt data, providing security for online transactions and communications. </a:t>
            </a:r>
          </a:p>
          <a:p>
            <a:r>
              <a:rPr lang="en-US" dirty="0"/>
              <a:t>Page Ranking: Algorithms like the one used by Google use matrices to rank websites based on the links between them</a:t>
            </a:r>
          </a:p>
        </p:txBody>
      </p:sp>
    </p:spTree>
    <p:extLst>
      <p:ext uri="{BB962C8B-B14F-4D97-AF65-F5344CB8AC3E}">
        <p14:creationId xmlns:p14="http://schemas.microsoft.com/office/powerpoint/2010/main" val="24926565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0DABF-FF2A-CDC0-4170-EE5A53B92239}"/>
              </a:ext>
            </a:extLst>
          </p:cNvPr>
          <p:cNvSpPr>
            <a:spLocks noGrp="1"/>
          </p:cNvSpPr>
          <p:nvPr>
            <p:ph type="title"/>
          </p:nvPr>
        </p:nvSpPr>
        <p:spPr/>
        <p:txBody>
          <a:bodyPr/>
          <a:lstStyle/>
          <a:p>
            <a:r>
              <a:rPr lang="en-US" dirty="0"/>
              <a:t>Matrix Operations in CCP</a:t>
            </a:r>
          </a:p>
        </p:txBody>
      </p:sp>
      <p:sp>
        <p:nvSpPr>
          <p:cNvPr id="3" name="Content Placeholder 2">
            <a:extLst>
              <a:ext uri="{FF2B5EF4-FFF2-40B4-BE49-F238E27FC236}">
                <a16:creationId xmlns:a16="http://schemas.microsoft.com/office/drawing/2014/main" id="{81581A04-AB4B-E57B-AA08-AD0999E6E26C}"/>
              </a:ext>
            </a:extLst>
          </p:cNvPr>
          <p:cNvSpPr>
            <a:spLocks noGrp="1"/>
          </p:cNvSpPr>
          <p:nvPr>
            <p:ph idx="1"/>
          </p:nvPr>
        </p:nvSpPr>
        <p:spPr/>
        <p:txBody>
          <a:bodyPr/>
          <a:lstStyle/>
          <a:p>
            <a:r>
              <a:rPr lang="en-US" dirty="0"/>
              <a:t>Additon </a:t>
            </a:r>
          </a:p>
          <a:p>
            <a:r>
              <a:rPr lang="en-US" dirty="0"/>
              <a:t>Subtraction</a:t>
            </a:r>
          </a:p>
          <a:p>
            <a:r>
              <a:rPr lang="en-US" dirty="0"/>
              <a:t>Multiplication</a:t>
            </a:r>
          </a:p>
          <a:p>
            <a:r>
              <a:rPr lang="en-US" dirty="0"/>
              <a:t>Transpose</a:t>
            </a:r>
          </a:p>
          <a:p>
            <a:r>
              <a:rPr lang="en-US" dirty="0"/>
              <a:t>Determinant</a:t>
            </a:r>
          </a:p>
          <a:p>
            <a:endParaRPr lang="en-US" dirty="0"/>
          </a:p>
        </p:txBody>
      </p:sp>
    </p:spTree>
    <p:extLst>
      <p:ext uri="{BB962C8B-B14F-4D97-AF65-F5344CB8AC3E}">
        <p14:creationId xmlns:p14="http://schemas.microsoft.com/office/powerpoint/2010/main" val="2510285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255A0-752A-3797-4CDB-9364C44A23FB}"/>
              </a:ext>
            </a:extLst>
          </p:cNvPr>
          <p:cNvSpPr>
            <a:spLocks noGrp="1"/>
          </p:cNvSpPr>
          <p:nvPr>
            <p:ph type="title"/>
          </p:nvPr>
        </p:nvSpPr>
        <p:spPr/>
        <p:txBody>
          <a:bodyPr/>
          <a:lstStyle/>
          <a:p>
            <a:r>
              <a:rPr lang="en-US" dirty="0"/>
              <a:t>Matrix Addition</a:t>
            </a:r>
          </a:p>
        </p:txBody>
      </p:sp>
      <p:sp>
        <p:nvSpPr>
          <p:cNvPr id="3" name="Content Placeholder 2">
            <a:extLst>
              <a:ext uri="{FF2B5EF4-FFF2-40B4-BE49-F238E27FC236}">
                <a16:creationId xmlns:a16="http://schemas.microsoft.com/office/drawing/2014/main" id="{1E9D09BB-58F0-89F7-A44B-D434E807F4B3}"/>
              </a:ext>
            </a:extLst>
          </p:cNvPr>
          <p:cNvSpPr>
            <a:spLocks noGrp="1"/>
          </p:cNvSpPr>
          <p:nvPr>
            <p:ph idx="1"/>
          </p:nvPr>
        </p:nvSpPr>
        <p:spPr/>
        <p:txBody>
          <a:bodyPr/>
          <a:lstStyle/>
          <a:p>
            <a:r>
              <a:rPr lang="en-US" dirty="0"/>
              <a:t>The matrices that are to be added must have same order</a:t>
            </a:r>
          </a:p>
          <a:p>
            <a:r>
              <a:rPr lang="en-US" dirty="0"/>
              <a:t>The elements of the same order are added with each other</a:t>
            </a:r>
          </a:p>
          <a:p>
            <a:endParaRPr lang="en-US" dirty="0"/>
          </a:p>
        </p:txBody>
      </p:sp>
      <p:pic>
        <p:nvPicPr>
          <p:cNvPr id="5" name="Picture 4">
            <a:extLst>
              <a:ext uri="{FF2B5EF4-FFF2-40B4-BE49-F238E27FC236}">
                <a16:creationId xmlns:a16="http://schemas.microsoft.com/office/drawing/2014/main" id="{E6E81EE7-6C8C-F1CD-081C-EB484034A40A}"/>
              </a:ext>
            </a:extLst>
          </p:cNvPr>
          <p:cNvPicPr>
            <a:picLocks noChangeAspect="1"/>
          </p:cNvPicPr>
          <p:nvPr/>
        </p:nvPicPr>
        <p:blipFill>
          <a:blip r:embed="rId2"/>
          <a:stretch>
            <a:fillRect/>
          </a:stretch>
        </p:blipFill>
        <p:spPr>
          <a:xfrm>
            <a:off x="1844054" y="3133852"/>
            <a:ext cx="7331075" cy="2796782"/>
          </a:xfrm>
          <a:prstGeom prst="rect">
            <a:avLst/>
          </a:prstGeom>
        </p:spPr>
      </p:pic>
    </p:spTree>
    <p:extLst>
      <p:ext uri="{BB962C8B-B14F-4D97-AF65-F5344CB8AC3E}">
        <p14:creationId xmlns:p14="http://schemas.microsoft.com/office/powerpoint/2010/main" val="33158771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9E920-41C0-1FE9-497F-B869606AFE54}"/>
              </a:ext>
            </a:extLst>
          </p:cNvPr>
          <p:cNvSpPr>
            <a:spLocks noGrp="1"/>
          </p:cNvSpPr>
          <p:nvPr>
            <p:ph type="title"/>
          </p:nvPr>
        </p:nvSpPr>
        <p:spPr/>
        <p:txBody>
          <a:bodyPr/>
          <a:lstStyle/>
          <a:p>
            <a:r>
              <a:rPr lang="en-US" dirty="0"/>
              <a:t>Matrix Subtraction</a:t>
            </a:r>
          </a:p>
        </p:txBody>
      </p:sp>
      <p:sp>
        <p:nvSpPr>
          <p:cNvPr id="3" name="Content Placeholder 2">
            <a:extLst>
              <a:ext uri="{FF2B5EF4-FFF2-40B4-BE49-F238E27FC236}">
                <a16:creationId xmlns:a16="http://schemas.microsoft.com/office/drawing/2014/main" id="{F8383BE8-E633-8DE4-1328-F2E2A788D663}"/>
              </a:ext>
            </a:extLst>
          </p:cNvPr>
          <p:cNvSpPr>
            <a:spLocks noGrp="1"/>
          </p:cNvSpPr>
          <p:nvPr>
            <p:ph idx="1"/>
          </p:nvPr>
        </p:nvSpPr>
        <p:spPr/>
        <p:txBody>
          <a:bodyPr/>
          <a:lstStyle/>
          <a:p>
            <a:r>
              <a:rPr lang="en-US" dirty="0"/>
              <a:t>Same order for both Matrices</a:t>
            </a:r>
          </a:p>
          <a:p>
            <a:r>
              <a:rPr lang="en-US" dirty="0"/>
              <a:t>Element of same corresponding order will subtract</a:t>
            </a:r>
          </a:p>
          <a:p>
            <a:endParaRPr lang="en-US" dirty="0"/>
          </a:p>
        </p:txBody>
      </p:sp>
      <p:pic>
        <p:nvPicPr>
          <p:cNvPr id="5" name="Picture 4">
            <a:extLst>
              <a:ext uri="{FF2B5EF4-FFF2-40B4-BE49-F238E27FC236}">
                <a16:creationId xmlns:a16="http://schemas.microsoft.com/office/drawing/2014/main" id="{433A2B97-43F9-FEDB-5B6D-DA0E70C9EF84}"/>
              </a:ext>
            </a:extLst>
          </p:cNvPr>
          <p:cNvPicPr>
            <a:picLocks noChangeAspect="1"/>
          </p:cNvPicPr>
          <p:nvPr/>
        </p:nvPicPr>
        <p:blipFill>
          <a:blip r:embed="rId2"/>
          <a:stretch>
            <a:fillRect/>
          </a:stretch>
        </p:blipFill>
        <p:spPr>
          <a:xfrm>
            <a:off x="2295940" y="3138936"/>
            <a:ext cx="6559826" cy="3059237"/>
          </a:xfrm>
          <a:prstGeom prst="rect">
            <a:avLst/>
          </a:prstGeom>
        </p:spPr>
      </p:pic>
    </p:spTree>
    <p:extLst>
      <p:ext uri="{BB962C8B-B14F-4D97-AF65-F5344CB8AC3E}">
        <p14:creationId xmlns:p14="http://schemas.microsoft.com/office/powerpoint/2010/main" val="28740377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9569B-8EA9-99A8-462A-966E5BFE9018}"/>
              </a:ext>
            </a:extLst>
          </p:cNvPr>
          <p:cNvSpPr>
            <a:spLocks noGrp="1"/>
          </p:cNvSpPr>
          <p:nvPr>
            <p:ph type="title"/>
          </p:nvPr>
        </p:nvSpPr>
        <p:spPr/>
        <p:txBody>
          <a:bodyPr/>
          <a:lstStyle/>
          <a:p>
            <a:r>
              <a:rPr lang="en-US" dirty="0"/>
              <a:t>Matrix Multiplication</a:t>
            </a:r>
          </a:p>
        </p:txBody>
      </p:sp>
      <p:sp>
        <p:nvSpPr>
          <p:cNvPr id="3" name="Content Placeholder 2">
            <a:extLst>
              <a:ext uri="{FF2B5EF4-FFF2-40B4-BE49-F238E27FC236}">
                <a16:creationId xmlns:a16="http://schemas.microsoft.com/office/drawing/2014/main" id="{731D6A18-E45C-13D3-3DFC-1D1654780CF2}"/>
              </a:ext>
            </a:extLst>
          </p:cNvPr>
          <p:cNvSpPr>
            <a:spLocks noGrp="1"/>
          </p:cNvSpPr>
          <p:nvPr>
            <p:ph idx="1"/>
          </p:nvPr>
        </p:nvSpPr>
        <p:spPr/>
        <p:txBody>
          <a:bodyPr/>
          <a:lstStyle/>
          <a:p>
            <a:r>
              <a:rPr lang="en-US" dirty="0"/>
              <a:t>The number of columns of first matrix should be same as the number of rows of second matrix.</a:t>
            </a:r>
          </a:p>
          <a:p>
            <a:r>
              <a:rPr lang="en-US" dirty="0"/>
              <a:t>The multiplication will occur in order of elements of rows of first matrix  to be multiplied by elements of columns of second matrix</a:t>
            </a:r>
          </a:p>
          <a:p>
            <a:r>
              <a:rPr lang="en-US" dirty="0"/>
              <a:t>For example if A(</a:t>
            </a:r>
            <a:r>
              <a:rPr lang="en-US" dirty="0" err="1"/>
              <a:t>m.n</a:t>
            </a:r>
            <a:r>
              <a:rPr lang="en-US" dirty="0"/>
              <a:t>) x B(</a:t>
            </a:r>
            <a:r>
              <a:rPr lang="en-US" dirty="0" err="1"/>
              <a:t>n.p</a:t>
            </a:r>
            <a:r>
              <a:rPr lang="en-US" dirty="0"/>
              <a:t>) then then the product of A and B (matrix C) should be of order (</a:t>
            </a:r>
            <a:r>
              <a:rPr lang="en-US" dirty="0" err="1"/>
              <a:t>m.p</a:t>
            </a:r>
            <a:r>
              <a:rPr lang="en-US" dirty="0"/>
              <a:t>)  </a:t>
            </a:r>
          </a:p>
        </p:txBody>
      </p:sp>
    </p:spTree>
    <p:extLst>
      <p:ext uri="{BB962C8B-B14F-4D97-AF65-F5344CB8AC3E}">
        <p14:creationId xmlns:p14="http://schemas.microsoft.com/office/powerpoint/2010/main" val="39884158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35FEDE-506E-0E17-C45B-5D58080EEEA8}"/>
              </a:ext>
            </a:extLst>
          </p:cNvPr>
          <p:cNvSpPr txBox="1"/>
          <p:nvPr/>
        </p:nvSpPr>
        <p:spPr>
          <a:xfrm>
            <a:off x="327991" y="228600"/>
            <a:ext cx="11360426" cy="584775"/>
          </a:xfrm>
          <a:prstGeom prst="rect">
            <a:avLst/>
          </a:prstGeom>
          <a:noFill/>
        </p:spPr>
        <p:txBody>
          <a:bodyPr wrap="square" rtlCol="0">
            <a:spAutoFit/>
          </a:bodyPr>
          <a:lstStyle/>
          <a:p>
            <a:r>
              <a:rPr lang="en-US" sz="3200" dirty="0"/>
              <a:t>An 2 by 2 matrix multiplication</a:t>
            </a:r>
          </a:p>
        </p:txBody>
      </p:sp>
      <p:pic>
        <p:nvPicPr>
          <p:cNvPr id="4" name="Picture 3">
            <a:extLst>
              <a:ext uri="{FF2B5EF4-FFF2-40B4-BE49-F238E27FC236}">
                <a16:creationId xmlns:a16="http://schemas.microsoft.com/office/drawing/2014/main" id="{A4097A28-3EC6-DF1E-AB18-486354BA0EA4}"/>
              </a:ext>
            </a:extLst>
          </p:cNvPr>
          <p:cNvPicPr>
            <a:picLocks noChangeAspect="1"/>
          </p:cNvPicPr>
          <p:nvPr/>
        </p:nvPicPr>
        <p:blipFill>
          <a:blip r:embed="rId2"/>
          <a:stretch>
            <a:fillRect/>
          </a:stretch>
        </p:blipFill>
        <p:spPr>
          <a:xfrm>
            <a:off x="983974" y="1027912"/>
            <a:ext cx="9203635" cy="2533067"/>
          </a:xfrm>
          <a:prstGeom prst="rect">
            <a:avLst/>
          </a:prstGeom>
        </p:spPr>
      </p:pic>
      <p:sp>
        <p:nvSpPr>
          <p:cNvPr id="5" name="TextBox 4">
            <a:extLst>
              <a:ext uri="{FF2B5EF4-FFF2-40B4-BE49-F238E27FC236}">
                <a16:creationId xmlns:a16="http://schemas.microsoft.com/office/drawing/2014/main" id="{45E534A6-6687-BAD8-F7C8-81C797727F5A}"/>
              </a:ext>
            </a:extLst>
          </p:cNvPr>
          <p:cNvSpPr txBox="1"/>
          <p:nvPr/>
        </p:nvSpPr>
        <p:spPr>
          <a:xfrm>
            <a:off x="327991" y="3429000"/>
            <a:ext cx="5715000" cy="584775"/>
          </a:xfrm>
          <a:prstGeom prst="rect">
            <a:avLst/>
          </a:prstGeom>
          <a:noFill/>
        </p:spPr>
        <p:txBody>
          <a:bodyPr wrap="square" rtlCol="0">
            <a:spAutoFit/>
          </a:bodyPr>
          <a:lstStyle/>
          <a:p>
            <a:r>
              <a:rPr lang="en-US" sz="3200" dirty="0"/>
              <a:t>A 3 by 3 matrix multiplication</a:t>
            </a:r>
          </a:p>
        </p:txBody>
      </p:sp>
      <p:pic>
        <p:nvPicPr>
          <p:cNvPr id="7" name="Picture 6">
            <a:extLst>
              <a:ext uri="{FF2B5EF4-FFF2-40B4-BE49-F238E27FC236}">
                <a16:creationId xmlns:a16="http://schemas.microsoft.com/office/drawing/2014/main" id="{228C4E21-542C-24B3-EC69-3D97D1B2F5BC}"/>
              </a:ext>
            </a:extLst>
          </p:cNvPr>
          <p:cNvPicPr>
            <a:picLocks noChangeAspect="1"/>
          </p:cNvPicPr>
          <p:nvPr/>
        </p:nvPicPr>
        <p:blipFill>
          <a:blip r:embed="rId3"/>
          <a:stretch>
            <a:fillRect/>
          </a:stretch>
        </p:blipFill>
        <p:spPr>
          <a:xfrm>
            <a:off x="1232453" y="4194314"/>
            <a:ext cx="8637104" cy="2115624"/>
          </a:xfrm>
          <a:prstGeom prst="rect">
            <a:avLst/>
          </a:prstGeom>
        </p:spPr>
      </p:pic>
    </p:spTree>
    <p:extLst>
      <p:ext uri="{BB962C8B-B14F-4D97-AF65-F5344CB8AC3E}">
        <p14:creationId xmlns:p14="http://schemas.microsoft.com/office/powerpoint/2010/main" val="34904095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BCF4C-2F50-11FE-4735-158189DE8690}"/>
              </a:ext>
            </a:extLst>
          </p:cNvPr>
          <p:cNvSpPr>
            <a:spLocks noGrp="1"/>
          </p:cNvSpPr>
          <p:nvPr>
            <p:ph type="title"/>
          </p:nvPr>
        </p:nvSpPr>
        <p:spPr/>
        <p:txBody>
          <a:bodyPr/>
          <a:lstStyle/>
          <a:p>
            <a:r>
              <a:rPr lang="en-US" dirty="0"/>
              <a:t>Transpose of a Matrix</a:t>
            </a:r>
          </a:p>
        </p:txBody>
      </p:sp>
      <p:sp>
        <p:nvSpPr>
          <p:cNvPr id="3" name="Content Placeholder 2">
            <a:extLst>
              <a:ext uri="{FF2B5EF4-FFF2-40B4-BE49-F238E27FC236}">
                <a16:creationId xmlns:a16="http://schemas.microsoft.com/office/drawing/2014/main" id="{2BC60E22-A48E-B2EF-ED51-7194BA1A0327}"/>
              </a:ext>
            </a:extLst>
          </p:cNvPr>
          <p:cNvSpPr>
            <a:spLocks noGrp="1"/>
          </p:cNvSpPr>
          <p:nvPr>
            <p:ph idx="1"/>
          </p:nvPr>
        </p:nvSpPr>
        <p:spPr/>
        <p:txBody>
          <a:bodyPr/>
          <a:lstStyle/>
          <a:p>
            <a:r>
              <a:rPr lang="en-US" dirty="0"/>
              <a:t>The matrix formed by swapping the order of elements in rows and columns ultimately swapping the order of matrix.</a:t>
            </a:r>
          </a:p>
          <a:p>
            <a:r>
              <a:rPr lang="en-US" dirty="0"/>
              <a:t>For example if a matrix A has order of (2x3) then the order of its transpose At will be (3x2)</a:t>
            </a:r>
          </a:p>
          <a:p>
            <a:r>
              <a:rPr lang="en-US" dirty="0"/>
              <a:t>The element at (2,1) will be at (1,2)</a:t>
            </a:r>
          </a:p>
          <a:p>
            <a:endParaRPr lang="en-US" dirty="0"/>
          </a:p>
        </p:txBody>
      </p:sp>
    </p:spTree>
    <p:extLst>
      <p:ext uri="{BB962C8B-B14F-4D97-AF65-F5344CB8AC3E}">
        <p14:creationId xmlns:p14="http://schemas.microsoft.com/office/powerpoint/2010/main" val="37000071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6BF67F-9CD0-96B9-87DF-DBA5FF8FCF34}"/>
              </a:ext>
            </a:extLst>
          </p:cNvPr>
          <p:cNvSpPr txBox="1"/>
          <p:nvPr/>
        </p:nvSpPr>
        <p:spPr>
          <a:xfrm>
            <a:off x="785191" y="413266"/>
            <a:ext cx="8348869" cy="584775"/>
          </a:xfrm>
          <a:prstGeom prst="rect">
            <a:avLst/>
          </a:prstGeom>
          <a:noFill/>
        </p:spPr>
        <p:txBody>
          <a:bodyPr wrap="square" rtlCol="0">
            <a:spAutoFit/>
          </a:bodyPr>
          <a:lstStyle/>
          <a:p>
            <a:r>
              <a:rPr lang="en-US" sz="3200" dirty="0"/>
              <a:t>Transpose Operation</a:t>
            </a:r>
          </a:p>
        </p:txBody>
      </p:sp>
      <p:pic>
        <p:nvPicPr>
          <p:cNvPr id="4" name="Picture 3">
            <a:extLst>
              <a:ext uri="{FF2B5EF4-FFF2-40B4-BE49-F238E27FC236}">
                <a16:creationId xmlns:a16="http://schemas.microsoft.com/office/drawing/2014/main" id="{068EB973-40AA-A935-06DA-04FC9466720E}"/>
              </a:ext>
            </a:extLst>
          </p:cNvPr>
          <p:cNvPicPr>
            <a:picLocks noChangeAspect="1"/>
          </p:cNvPicPr>
          <p:nvPr/>
        </p:nvPicPr>
        <p:blipFill>
          <a:blip r:embed="rId2"/>
          <a:stretch>
            <a:fillRect/>
          </a:stretch>
        </p:blipFill>
        <p:spPr>
          <a:xfrm>
            <a:off x="709075" y="1413595"/>
            <a:ext cx="5685013" cy="1844200"/>
          </a:xfrm>
          <a:prstGeom prst="rect">
            <a:avLst/>
          </a:prstGeom>
        </p:spPr>
      </p:pic>
      <p:pic>
        <p:nvPicPr>
          <p:cNvPr id="6" name="Picture 5">
            <a:extLst>
              <a:ext uri="{FF2B5EF4-FFF2-40B4-BE49-F238E27FC236}">
                <a16:creationId xmlns:a16="http://schemas.microsoft.com/office/drawing/2014/main" id="{93A9DBCF-5395-DD10-2007-5822A468758E}"/>
              </a:ext>
            </a:extLst>
          </p:cNvPr>
          <p:cNvPicPr>
            <a:picLocks noChangeAspect="1"/>
          </p:cNvPicPr>
          <p:nvPr/>
        </p:nvPicPr>
        <p:blipFill>
          <a:blip r:embed="rId3"/>
          <a:stretch>
            <a:fillRect/>
          </a:stretch>
        </p:blipFill>
        <p:spPr>
          <a:xfrm>
            <a:off x="6738730" y="1133061"/>
            <a:ext cx="5108713" cy="5311673"/>
          </a:xfrm>
          <a:prstGeom prst="rect">
            <a:avLst/>
          </a:prstGeom>
        </p:spPr>
      </p:pic>
    </p:spTree>
    <p:extLst>
      <p:ext uri="{BB962C8B-B14F-4D97-AF65-F5344CB8AC3E}">
        <p14:creationId xmlns:p14="http://schemas.microsoft.com/office/powerpoint/2010/main" val="7660619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C40C6-6431-6441-9FCC-EC359B802010}"/>
              </a:ext>
            </a:extLst>
          </p:cNvPr>
          <p:cNvSpPr>
            <a:spLocks noGrp="1"/>
          </p:cNvSpPr>
          <p:nvPr>
            <p:ph type="title"/>
          </p:nvPr>
        </p:nvSpPr>
        <p:spPr/>
        <p:txBody>
          <a:bodyPr/>
          <a:lstStyle/>
          <a:p>
            <a:r>
              <a:rPr lang="en-US" dirty="0"/>
              <a:t>Determinant of a Matrix</a:t>
            </a:r>
          </a:p>
        </p:txBody>
      </p:sp>
      <p:sp>
        <p:nvSpPr>
          <p:cNvPr id="3" name="Content Placeholder 2">
            <a:extLst>
              <a:ext uri="{FF2B5EF4-FFF2-40B4-BE49-F238E27FC236}">
                <a16:creationId xmlns:a16="http://schemas.microsoft.com/office/drawing/2014/main" id="{9EC0139B-3235-5BB5-F5D5-03364D7A399C}"/>
              </a:ext>
            </a:extLst>
          </p:cNvPr>
          <p:cNvSpPr>
            <a:spLocks noGrp="1"/>
          </p:cNvSpPr>
          <p:nvPr>
            <p:ph idx="1"/>
          </p:nvPr>
        </p:nvSpPr>
        <p:spPr/>
        <p:txBody>
          <a:bodyPr/>
          <a:lstStyle/>
          <a:p>
            <a:r>
              <a:rPr lang="en-US" dirty="0"/>
              <a:t>The determinant is a scalar value computed for a square matrix that we use to find the inverse for matrix and at advance level it indicates properties of the linear transformation it represents, such as scaling factor and orientation. </a:t>
            </a:r>
          </a:p>
        </p:txBody>
      </p:sp>
    </p:spTree>
    <p:extLst>
      <p:ext uri="{BB962C8B-B14F-4D97-AF65-F5344CB8AC3E}">
        <p14:creationId xmlns:p14="http://schemas.microsoft.com/office/powerpoint/2010/main" val="29036474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1E3EF76-B8ED-4E89-0E34-5C6481FD475A}"/>
              </a:ext>
            </a:extLst>
          </p:cNvPr>
          <p:cNvSpPr txBox="1"/>
          <p:nvPr/>
        </p:nvSpPr>
        <p:spPr>
          <a:xfrm>
            <a:off x="387626" y="248478"/>
            <a:ext cx="9153939" cy="584775"/>
          </a:xfrm>
          <a:prstGeom prst="rect">
            <a:avLst/>
          </a:prstGeom>
          <a:noFill/>
        </p:spPr>
        <p:txBody>
          <a:bodyPr wrap="square" rtlCol="0">
            <a:spAutoFit/>
          </a:bodyPr>
          <a:lstStyle/>
          <a:p>
            <a:r>
              <a:rPr lang="en-US" sz="3200" dirty="0"/>
              <a:t>A 2x2 matrix determinant</a:t>
            </a:r>
          </a:p>
        </p:txBody>
      </p:sp>
      <p:pic>
        <p:nvPicPr>
          <p:cNvPr id="4" name="Picture 3">
            <a:extLst>
              <a:ext uri="{FF2B5EF4-FFF2-40B4-BE49-F238E27FC236}">
                <a16:creationId xmlns:a16="http://schemas.microsoft.com/office/drawing/2014/main" id="{A70D1537-2D91-B085-0774-10C8D5E67459}"/>
              </a:ext>
            </a:extLst>
          </p:cNvPr>
          <p:cNvPicPr>
            <a:picLocks noChangeAspect="1"/>
          </p:cNvPicPr>
          <p:nvPr/>
        </p:nvPicPr>
        <p:blipFill>
          <a:blip r:embed="rId2"/>
          <a:stretch>
            <a:fillRect/>
          </a:stretch>
        </p:blipFill>
        <p:spPr>
          <a:xfrm>
            <a:off x="633399" y="1709530"/>
            <a:ext cx="5071662" cy="3091070"/>
          </a:xfrm>
          <a:prstGeom prst="rect">
            <a:avLst/>
          </a:prstGeom>
        </p:spPr>
      </p:pic>
      <p:pic>
        <p:nvPicPr>
          <p:cNvPr id="6" name="Picture 5">
            <a:extLst>
              <a:ext uri="{FF2B5EF4-FFF2-40B4-BE49-F238E27FC236}">
                <a16:creationId xmlns:a16="http://schemas.microsoft.com/office/drawing/2014/main" id="{F073BAF3-175A-128F-6E2F-E92F0E95A784}"/>
              </a:ext>
            </a:extLst>
          </p:cNvPr>
          <p:cNvPicPr>
            <a:picLocks noChangeAspect="1"/>
          </p:cNvPicPr>
          <p:nvPr/>
        </p:nvPicPr>
        <p:blipFill>
          <a:blip r:embed="rId3"/>
          <a:stretch>
            <a:fillRect/>
          </a:stretch>
        </p:blipFill>
        <p:spPr>
          <a:xfrm>
            <a:off x="5758614" y="1933335"/>
            <a:ext cx="5829805" cy="3627434"/>
          </a:xfrm>
          <a:prstGeom prst="rect">
            <a:avLst/>
          </a:prstGeom>
        </p:spPr>
      </p:pic>
    </p:spTree>
    <p:extLst>
      <p:ext uri="{BB962C8B-B14F-4D97-AF65-F5344CB8AC3E}">
        <p14:creationId xmlns:p14="http://schemas.microsoft.com/office/powerpoint/2010/main" val="32419092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0FFCE93-F9F3-451E-A5F0-C1A7076DCB11}"/>
              </a:ext>
            </a:extLst>
          </p:cNvPr>
          <p:cNvSpPr txBox="1"/>
          <p:nvPr/>
        </p:nvSpPr>
        <p:spPr>
          <a:xfrm>
            <a:off x="228600" y="168965"/>
            <a:ext cx="7484165" cy="584775"/>
          </a:xfrm>
          <a:prstGeom prst="rect">
            <a:avLst/>
          </a:prstGeom>
          <a:noFill/>
        </p:spPr>
        <p:txBody>
          <a:bodyPr wrap="square" rtlCol="0">
            <a:spAutoFit/>
          </a:bodyPr>
          <a:lstStyle/>
          <a:p>
            <a:r>
              <a:rPr lang="en-US" sz="3200" dirty="0"/>
              <a:t>A 3x3 matrix determinant</a:t>
            </a:r>
          </a:p>
        </p:txBody>
      </p:sp>
      <p:pic>
        <p:nvPicPr>
          <p:cNvPr id="4" name="Picture 3">
            <a:extLst>
              <a:ext uri="{FF2B5EF4-FFF2-40B4-BE49-F238E27FC236}">
                <a16:creationId xmlns:a16="http://schemas.microsoft.com/office/drawing/2014/main" id="{69574771-724B-84BE-EC19-ED63ED06B711}"/>
              </a:ext>
            </a:extLst>
          </p:cNvPr>
          <p:cNvPicPr>
            <a:picLocks noChangeAspect="1"/>
          </p:cNvPicPr>
          <p:nvPr/>
        </p:nvPicPr>
        <p:blipFill>
          <a:blip r:embed="rId2"/>
          <a:stretch>
            <a:fillRect/>
          </a:stretch>
        </p:blipFill>
        <p:spPr>
          <a:xfrm>
            <a:off x="5098773" y="434080"/>
            <a:ext cx="6331226" cy="5989839"/>
          </a:xfrm>
          <a:prstGeom prst="rect">
            <a:avLst/>
          </a:prstGeom>
        </p:spPr>
      </p:pic>
    </p:spTree>
    <p:extLst>
      <p:ext uri="{BB962C8B-B14F-4D97-AF65-F5344CB8AC3E}">
        <p14:creationId xmlns:p14="http://schemas.microsoft.com/office/powerpoint/2010/main" val="16983458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E7B1382-B11F-CE4A-31FF-8B3B51EAB185}"/>
              </a:ext>
            </a:extLst>
          </p:cNvPr>
          <p:cNvPicPr>
            <a:picLocks noChangeAspect="1"/>
          </p:cNvPicPr>
          <p:nvPr/>
        </p:nvPicPr>
        <p:blipFill>
          <a:blip r:embed="rId2"/>
          <a:stretch>
            <a:fillRect/>
          </a:stretch>
        </p:blipFill>
        <p:spPr>
          <a:xfrm>
            <a:off x="1242392" y="238539"/>
            <a:ext cx="9899374" cy="6321287"/>
          </a:xfrm>
          <a:prstGeom prst="rect">
            <a:avLst/>
          </a:prstGeom>
        </p:spPr>
      </p:pic>
    </p:spTree>
    <p:extLst>
      <p:ext uri="{BB962C8B-B14F-4D97-AF65-F5344CB8AC3E}">
        <p14:creationId xmlns:p14="http://schemas.microsoft.com/office/powerpoint/2010/main" val="40799655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A1540-B6D5-EC16-AEE2-13015797B4CC}"/>
              </a:ext>
            </a:extLst>
          </p:cNvPr>
          <p:cNvSpPr>
            <a:spLocks noGrp="1"/>
          </p:cNvSpPr>
          <p:nvPr>
            <p:ph type="title"/>
          </p:nvPr>
        </p:nvSpPr>
        <p:spPr>
          <a:xfrm>
            <a:off x="838200" y="365125"/>
            <a:ext cx="10515600" cy="499579"/>
          </a:xfrm>
        </p:spPr>
        <p:txBody>
          <a:bodyPr>
            <a:normAutofit fontScale="90000"/>
          </a:bodyPr>
          <a:lstStyle/>
          <a:p>
            <a:r>
              <a:rPr lang="en-US" dirty="0"/>
              <a:t>Algorithm</a:t>
            </a:r>
          </a:p>
        </p:txBody>
      </p:sp>
      <p:sp>
        <p:nvSpPr>
          <p:cNvPr id="3" name="Content Placeholder 2">
            <a:extLst>
              <a:ext uri="{FF2B5EF4-FFF2-40B4-BE49-F238E27FC236}">
                <a16:creationId xmlns:a16="http://schemas.microsoft.com/office/drawing/2014/main" id="{AA1D8E3C-E1E2-4C6E-C23E-74489B774FFD}"/>
              </a:ext>
            </a:extLst>
          </p:cNvPr>
          <p:cNvSpPr>
            <a:spLocks noGrp="1"/>
          </p:cNvSpPr>
          <p:nvPr>
            <p:ph idx="1"/>
          </p:nvPr>
        </p:nvSpPr>
        <p:spPr>
          <a:xfrm>
            <a:off x="838200" y="1033670"/>
            <a:ext cx="10515600" cy="5575852"/>
          </a:xfrm>
        </p:spPr>
        <p:txBody>
          <a:bodyPr>
            <a:normAutofit/>
          </a:bodyPr>
          <a:lstStyle/>
          <a:p>
            <a:pPr marL="0" indent="0">
              <a:buNone/>
            </a:pPr>
            <a:r>
              <a:rPr lang="en-US" sz="1400" dirty="0"/>
              <a:t>Step 1: Start the program</a:t>
            </a:r>
          </a:p>
          <a:p>
            <a:pPr marL="0" indent="0">
              <a:buNone/>
            </a:pPr>
            <a:r>
              <a:rPr lang="en-US" sz="1400" dirty="0"/>
              <a:t>Step 2: Display the title "Matrix Calculator"</a:t>
            </a:r>
          </a:p>
          <a:p>
            <a:pPr marL="0" indent="0">
              <a:buNone/>
            </a:pPr>
            <a:r>
              <a:rPr lang="en-US" sz="1400" dirty="0"/>
              <a:t>Step 3: Ask the user to enter matrix size (2 or 3)</a:t>
            </a:r>
          </a:p>
          <a:p>
            <a:pPr marL="0" indent="0">
              <a:buNone/>
            </a:pPr>
            <a:r>
              <a:rPr lang="en-US" sz="1400" dirty="0"/>
              <a:t>Step 4: If size is not 2 or 3 → display "Invalid size" and stop</a:t>
            </a:r>
          </a:p>
          <a:p>
            <a:pPr marL="0" indent="0">
              <a:buNone/>
            </a:pPr>
            <a:r>
              <a:rPr lang="en-US" sz="1400" dirty="0"/>
              <a:t>Step 5: Input elements of the first matrix A</a:t>
            </a:r>
          </a:p>
          <a:p>
            <a:pPr marL="0" indent="0">
              <a:buNone/>
            </a:pPr>
            <a:r>
              <a:rPr lang="en-US" sz="1400" dirty="0"/>
              <a:t>Step 6: Input elements of the second matrix B</a:t>
            </a:r>
          </a:p>
          <a:p>
            <a:pPr marL="0" indent="0">
              <a:buNone/>
            </a:pPr>
            <a:endParaRPr lang="en-US" sz="1400" dirty="0"/>
          </a:p>
          <a:p>
            <a:pPr marL="0" indent="0">
              <a:buNone/>
            </a:pPr>
            <a:r>
              <a:rPr lang="en-US" sz="1400" dirty="0"/>
              <a:t>Step 7: Display both matrices on the screen</a:t>
            </a:r>
          </a:p>
          <a:p>
            <a:pPr marL="0" indent="0">
              <a:buNone/>
            </a:pPr>
            <a:endParaRPr lang="en-US" sz="1400" dirty="0"/>
          </a:p>
          <a:p>
            <a:pPr marL="0" indent="0">
              <a:buNone/>
            </a:pPr>
            <a:r>
              <a:rPr lang="en-US" sz="1400" dirty="0"/>
              <a:t>Step 8: Show menu for operations:</a:t>
            </a:r>
          </a:p>
          <a:p>
            <a:pPr marL="0" indent="0">
              <a:buNone/>
            </a:pPr>
            <a:r>
              <a:rPr lang="en-US" sz="1400" dirty="0"/>
              <a:t> 1 → Addition</a:t>
            </a:r>
          </a:p>
          <a:p>
            <a:pPr marL="0" indent="0">
              <a:buNone/>
            </a:pPr>
            <a:r>
              <a:rPr lang="en-US" sz="1400" dirty="0"/>
              <a:t> 2 → Subtraction</a:t>
            </a:r>
          </a:p>
          <a:p>
            <a:pPr marL="0" indent="0">
              <a:buNone/>
            </a:pPr>
            <a:r>
              <a:rPr lang="en-US" sz="1400" dirty="0"/>
              <a:t> 3 → Multiplication</a:t>
            </a:r>
          </a:p>
          <a:p>
            <a:pPr marL="0" indent="0">
              <a:buNone/>
            </a:pPr>
            <a:r>
              <a:rPr lang="en-US" sz="1400" dirty="0"/>
              <a:t> 4 → Transpose</a:t>
            </a:r>
          </a:p>
          <a:p>
            <a:pPr marL="0" indent="0">
              <a:buNone/>
            </a:pPr>
            <a:r>
              <a:rPr lang="en-US" sz="1400" dirty="0"/>
              <a:t> 5 → Determinant</a:t>
            </a:r>
          </a:p>
          <a:p>
            <a:pPr marL="0" indent="0">
              <a:buNone/>
            </a:pPr>
            <a:endParaRPr lang="en-US" sz="1400" dirty="0"/>
          </a:p>
          <a:p>
            <a:pPr marL="0" indent="0">
              <a:buNone/>
            </a:pPr>
            <a:r>
              <a:rPr lang="en-US" sz="1400" dirty="0"/>
              <a:t>Step 9: Read the user’s choice</a:t>
            </a:r>
          </a:p>
          <a:p>
            <a:pPr marL="0" indent="0">
              <a:buNone/>
            </a:pPr>
            <a:endParaRPr lang="en-US" sz="1400" dirty="0"/>
          </a:p>
          <a:p>
            <a:pPr marL="0" indent="0">
              <a:buNone/>
            </a:pPr>
            <a:endParaRPr lang="en-US" sz="1400" dirty="0"/>
          </a:p>
        </p:txBody>
      </p:sp>
    </p:spTree>
    <p:extLst>
      <p:ext uri="{BB962C8B-B14F-4D97-AF65-F5344CB8AC3E}">
        <p14:creationId xmlns:p14="http://schemas.microsoft.com/office/powerpoint/2010/main" val="26018159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3A27108-434A-5A5F-B544-60FDB82AFA35}"/>
              </a:ext>
            </a:extLst>
          </p:cNvPr>
          <p:cNvSpPr>
            <a:spLocks noGrp="1"/>
          </p:cNvSpPr>
          <p:nvPr>
            <p:ph idx="1"/>
          </p:nvPr>
        </p:nvSpPr>
        <p:spPr>
          <a:xfrm>
            <a:off x="288235" y="332961"/>
            <a:ext cx="11085443" cy="6192078"/>
          </a:xfrm>
        </p:spPr>
        <p:txBody>
          <a:bodyPr>
            <a:normAutofit fontScale="47500" lnSpcReduction="20000"/>
          </a:bodyPr>
          <a:lstStyle/>
          <a:p>
            <a:r>
              <a:rPr lang="en-US" b="1" dirty="0"/>
              <a:t>Case 1 — Addition</a:t>
            </a:r>
          </a:p>
          <a:p>
            <a:r>
              <a:rPr lang="en-US" dirty="0"/>
              <a:t>Compute res[</a:t>
            </a:r>
            <a:r>
              <a:rPr lang="en-US" dirty="0" err="1"/>
              <a:t>i</a:t>
            </a:r>
            <a:r>
              <a:rPr lang="en-US" dirty="0"/>
              <a:t>][j] = A[</a:t>
            </a:r>
            <a:r>
              <a:rPr lang="en-US" dirty="0" err="1"/>
              <a:t>i</a:t>
            </a:r>
            <a:r>
              <a:rPr lang="en-US" dirty="0"/>
              <a:t>][j] + B[</a:t>
            </a:r>
            <a:r>
              <a:rPr lang="en-US" dirty="0" err="1"/>
              <a:t>i</a:t>
            </a:r>
            <a:r>
              <a:rPr lang="en-US" dirty="0"/>
              <a:t>][j] for all elements</a:t>
            </a:r>
          </a:p>
          <a:p>
            <a:r>
              <a:rPr lang="en-US" dirty="0"/>
              <a:t>Display result matrix</a:t>
            </a:r>
          </a:p>
          <a:p>
            <a:r>
              <a:rPr lang="en-US" b="1" dirty="0"/>
              <a:t>Case 2 — Subtraction</a:t>
            </a:r>
          </a:p>
          <a:p>
            <a:r>
              <a:rPr lang="en-US" dirty="0"/>
              <a:t>Compute res[</a:t>
            </a:r>
            <a:r>
              <a:rPr lang="en-US" dirty="0" err="1"/>
              <a:t>i</a:t>
            </a:r>
            <a:r>
              <a:rPr lang="en-US" dirty="0"/>
              <a:t>][j] = A[</a:t>
            </a:r>
            <a:r>
              <a:rPr lang="en-US" dirty="0" err="1"/>
              <a:t>i</a:t>
            </a:r>
            <a:r>
              <a:rPr lang="en-US" dirty="0"/>
              <a:t>][j] - B[</a:t>
            </a:r>
            <a:r>
              <a:rPr lang="en-US" dirty="0" err="1"/>
              <a:t>i</a:t>
            </a:r>
            <a:r>
              <a:rPr lang="en-US" dirty="0"/>
              <a:t>][j]</a:t>
            </a:r>
          </a:p>
          <a:p>
            <a:r>
              <a:rPr lang="en-US" dirty="0"/>
              <a:t>Display result matrix</a:t>
            </a:r>
            <a:endParaRPr lang="en-US" sz="3500" dirty="0"/>
          </a:p>
          <a:p>
            <a:r>
              <a:rPr lang="en-US" b="1" dirty="0"/>
              <a:t>Case 3 — Multiplication</a:t>
            </a:r>
          </a:p>
          <a:p>
            <a:r>
              <a:rPr lang="en-US" dirty="0"/>
              <a:t>Set all elements of res to 0</a:t>
            </a:r>
          </a:p>
          <a:p>
            <a:r>
              <a:rPr lang="en-US" dirty="0"/>
              <a:t>For each cell:</a:t>
            </a:r>
            <a:br>
              <a:rPr lang="en-US" dirty="0"/>
            </a:br>
            <a:r>
              <a:rPr lang="en-US" dirty="0"/>
              <a:t>res[</a:t>
            </a:r>
            <a:r>
              <a:rPr lang="en-US" dirty="0" err="1"/>
              <a:t>i</a:t>
            </a:r>
            <a:r>
              <a:rPr lang="en-US" dirty="0"/>
              <a:t>][j] = Σ( A[</a:t>
            </a:r>
            <a:r>
              <a:rPr lang="en-US" dirty="0" err="1"/>
              <a:t>i</a:t>
            </a:r>
            <a:r>
              <a:rPr lang="en-US" dirty="0"/>
              <a:t>][k] × B[k][j] )</a:t>
            </a:r>
          </a:p>
          <a:p>
            <a:r>
              <a:rPr lang="en-US" dirty="0"/>
              <a:t>Display result matrix</a:t>
            </a:r>
          </a:p>
          <a:p>
            <a:r>
              <a:rPr lang="en-US" b="1" dirty="0"/>
              <a:t>Case 4 — Transpose</a:t>
            </a:r>
          </a:p>
          <a:p>
            <a:r>
              <a:rPr lang="en-US" dirty="0"/>
              <a:t>Print transpose of matrix A: A[j][</a:t>
            </a:r>
            <a:r>
              <a:rPr lang="en-US" dirty="0" err="1"/>
              <a:t>i</a:t>
            </a:r>
            <a:r>
              <a:rPr lang="en-US" dirty="0"/>
              <a:t>]</a:t>
            </a:r>
          </a:p>
          <a:p>
            <a:r>
              <a:rPr lang="en-US" dirty="0"/>
              <a:t>Print transpose of matrix B: B[j][</a:t>
            </a:r>
            <a:r>
              <a:rPr lang="en-US" dirty="0" err="1"/>
              <a:t>i</a:t>
            </a:r>
            <a:r>
              <a:rPr lang="en-US" dirty="0"/>
              <a:t>]</a:t>
            </a:r>
          </a:p>
          <a:p>
            <a:r>
              <a:rPr lang="en-US" b="1" dirty="0"/>
              <a:t>Case 5 — Determinant</a:t>
            </a:r>
          </a:p>
          <a:p>
            <a:r>
              <a:rPr lang="en-US" dirty="0"/>
              <a:t>If matrix size is </a:t>
            </a:r>
            <a:r>
              <a:rPr lang="en-US" b="1" dirty="0"/>
              <a:t>2×2</a:t>
            </a:r>
            <a:r>
              <a:rPr lang="en-US" dirty="0"/>
              <a:t>:</a:t>
            </a:r>
            <a:br>
              <a:rPr lang="en-US" dirty="0"/>
            </a:br>
            <a:r>
              <a:rPr lang="en-US" dirty="0"/>
              <a:t>det = a00*a11 – a01*a10 for both matrices</a:t>
            </a:r>
          </a:p>
          <a:p>
            <a:r>
              <a:rPr lang="en-US" dirty="0"/>
              <a:t>If matrix size is </a:t>
            </a:r>
            <a:r>
              <a:rPr lang="en-US" b="1" dirty="0"/>
              <a:t>3×3</a:t>
            </a:r>
            <a:r>
              <a:rPr lang="en-US" dirty="0"/>
              <a:t>:</a:t>
            </a:r>
            <a:br>
              <a:rPr lang="en-US" dirty="0"/>
            </a:br>
            <a:r>
              <a:rPr lang="en-US" dirty="0"/>
              <a:t>Apply standard determinant formula</a:t>
            </a:r>
          </a:p>
          <a:p>
            <a:r>
              <a:rPr lang="en-US" dirty="0"/>
              <a:t>Display the determinant values</a:t>
            </a:r>
          </a:p>
          <a:p>
            <a:r>
              <a:rPr lang="en-US" b="1" dirty="0"/>
              <a:t>Default</a:t>
            </a:r>
          </a:p>
          <a:p>
            <a:r>
              <a:rPr lang="en-US" dirty="0"/>
              <a:t>Display “Invalid Choice”</a:t>
            </a:r>
          </a:p>
          <a:p>
            <a:br>
              <a:rPr lang="en-US" dirty="0"/>
            </a:br>
            <a:endParaRPr lang="en-US" dirty="0"/>
          </a:p>
          <a:p>
            <a:r>
              <a:rPr lang="en-US" b="1" dirty="0"/>
              <a:t>Step 10:</a:t>
            </a:r>
            <a:r>
              <a:rPr lang="en-US" dirty="0"/>
              <a:t> End the program</a:t>
            </a:r>
          </a:p>
          <a:p>
            <a:pPr marL="514350" indent="-514350">
              <a:buFont typeface="+mj-lt"/>
              <a:buAutoNum type="arabicPeriod"/>
            </a:pPr>
            <a:endParaRPr lang="en-US" dirty="0"/>
          </a:p>
        </p:txBody>
      </p:sp>
    </p:spTree>
    <p:extLst>
      <p:ext uri="{BB962C8B-B14F-4D97-AF65-F5344CB8AC3E}">
        <p14:creationId xmlns:p14="http://schemas.microsoft.com/office/powerpoint/2010/main" val="12469717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0AAD1-7788-524F-BC2F-7A725E9D397E}"/>
              </a:ext>
            </a:extLst>
          </p:cNvPr>
          <p:cNvSpPr>
            <a:spLocks noGrp="1"/>
          </p:cNvSpPr>
          <p:nvPr>
            <p:ph type="title"/>
          </p:nvPr>
        </p:nvSpPr>
        <p:spPr>
          <a:xfrm>
            <a:off x="838200" y="365125"/>
            <a:ext cx="10515600" cy="708301"/>
          </a:xfrm>
        </p:spPr>
        <p:txBody>
          <a:bodyPr/>
          <a:lstStyle/>
          <a:p>
            <a:r>
              <a:rPr lang="en-US" dirty="0"/>
              <a:t>The Program</a:t>
            </a:r>
          </a:p>
        </p:txBody>
      </p:sp>
      <p:sp>
        <p:nvSpPr>
          <p:cNvPr id="3" name="Content Placeholder 2">
            <a:extLst>
              <a:ext uri="{FF2B5EF4-FFF2-40B4-BE49-F238E27FC236}">
                <a16:creationId xmlns:a16="http://schemas.microsoft.com/office/drawing/2014/main" id="{BFEE7039-31A7-66B8-09BD-73F8F19B2C30}"/>
              </a:ext>
            </a:extLst>
          </p:cNvPr>
          <p:cNvSpPr>
            <a:spLocks noGrp="1"/>
          </p:cNvSpPr>
          <p:nvPr>
            <p:ph idx="1"/>
          </p:nvPr>
        </p:nvSpPr>
        <p:spPr>
          <a:xfrm>
            <a:off x="838200" y="1143000"/>
            <a:ext cx="10515600" cy="5033963"/>
          </a:xfrm>
        </p:spPr>
        <p:txBody>
          <a:bodyPr/>
          <a:lstStyle/>
          <a:p>
            <a:pPr marL="514350" indent="-514350">
              <a:buFont typeface="+mj-lt"/>
              <a:buAutoNum type="arabicPeriod"/>
            </a:pPr>
            <a:r>
              <a:rPr lang="en-US" dirty="0"/>
              <a:t>Setting the size</a:t>
            </a:r>
          </a:p>
          <a:p>
            <a:pPr marL="0" indent="0">
              <a:buNone/>
            </a:pPr>
            <a:r>
              <a:rPr lang="en-US" sz="1400" dirty="0"/>
              <a:t>First we prompt the user to enter the size for the square </a:t>
            </a:r>
          </a:p>
          <a:p>
            <a:pPr marL="0" indent="0">
              <a:buNone/>
            </a:pPr>
            <a:r>
              <a:rPr lang="en-US" sz="1400" dirty="0"/>
              <a:t>matrix. The user will either enter 2 for 2x2 or 3 for 3x3</a:t>
            </a:r>
          </a:p>
          <a:p>
            <a:pPr marL="0" indent="0">
              <a:buNone/>
            </a:pPr>
            <a:r>
              <a:rPr lang="en-US" sz="1400" dirty="0"/>
              <a:t>matrix.</a:t>
            </a:r>
          </a:p>
          <a:p>
            <a:pPr marL="0" indent="0">
              <a:buNone/>
            </a:pPr>
            <a:r>
              <a:rPr lang="en-US" sz="1400" dirty="0"/>
              <a:t>In line 9 the compiler itself will set the size according to </a:t>
            </a:r>
          </a:p>
          <a:p>
            <a:pPr marL="0" indent="0">
              <a:buNone/>
            </a:pPr>
            <a:r>
              <a:rPr lang="en-US" sz="1400" dirty="0"/>
              <a:t>User input. If the user enter any other number it will</a:t>
            </a:r>
          </a:p>
          <a:p>
            <a:pPr marL="0" indent="0">
              <a:buNone/>
            </a:pPr>
            <a:r>
              <a:rPr lang="en-US" sz="1400" dirty="0"/>
              <a:t>Simply give the statement “Invalid matrix size”. </a:t>
            </a:r>
          </a:p>
        </p:txBody>
      </p:sp>
      <p:pic>
        <p:nvPicPr>
          <p:cNvPr id="5" name="Picture 4">
            <a:extLst>
              <a:ext uri="{FF2B5EF4-FFF2-40B4-BE49-F238E27FC236}">
                <a16:creationId xmlns:a16="http://schemas.microsoft.com/office/drawing/2014/main" id="{8CFC6EF2-DA2A-5EDF-E47B-8F2422623C66}"/>
              </a:ext>
            </a:extLst>
          </p:cNvPr>
          <p:cNvPicPr>
            <a:picLocks noChangeAspect="1"/>
          </p:cNvPicPr>
          <p:nvPr/>
        </p:nvPicPr>
        <p:blipFill>
          <a:blip r:embed="rId2"/>
          <a:stretch>
            <a:fillRect/>
          </a:stretch>
        </p:blipFill>
        <p:spPr>
          <a:xfrm>
            <a:off x="5249082" y="1143000"/>
            <a:ext cx="6226080" cy="4253948"/>
          </a:xfrm>
          <a:prstGeom prst="rect">
            <a:avLst/>
          </a:prstGeom>
        </p:spPr>
      </p:pic>
    </p:spTree>
    <p:extLst>
      <p:ext uri="{BB962C8B-B14F-4D97-AF65-F5344CB8AC3E}">
        <p14:creationId xmlns:p14="http://schemas.microsoft.com/office/powerpoint/2010/main" val="25193870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167A8-0042-0934-A3FA-B33487D14A3A}"/>
              </a:ext>
            </a:extLst>
          </p:cNvPr>
          <p:cNvSpPr>
            <a:spLocks noGrp="1"/>
          </p:cNvSpPr>
          <p:nvPr>
            <p:ph type="title"/>
          </p:nvPr>
        </p:nvSpPr>
        <p:spPr>
          <a:xfrm>
            <a:off x="838200" y="365126"/>
            <a:ext cx="10515600" cy="678484"/>
          </a:xfrm>
        </p:spPr>
        <p:txBody>
          <a:bodyPr>
            <a:normAutofit fontScale="90000"/>
          </a:bodyPr>
          <a:lstStyle/>
          <a:p>
            <a:r>
              <a:rPr lang="en-US" dirty="0"/>
              <a:t>Declaring the elements</a:t>
            </a:r>
          </a:p>
        </p:txBody>
      </p:sp>
      <p:pic>
        <p:nvPicPr>
          <p:cNvPr id="5" name="Content Placeholder 4">
            <a:extLst>
              <a:ext uri="{FF2B5EF4-FFF2-40B4-BE49-F238E27FC236}">
                <a16:creationId xmlns:a16="http://schemas.microsoft.com/office/drawing/2014/main" id="{5378FAFB-7647-1BA0-7A54-CF9E305F3CAE}"/>
              </a:ext>
            </a:extLst>
          </p:cNvPr>
          <p:cNvPicPr>
            <a:picLocks noGrp="1" noChangeAspect="1"/>
          </p:cNvPicPr>
          <p:nvPr>
            <p:ph idx="1"/>
          </p:nvPr>
        </p:nvPicPr>
        <p:blipFill>
          <a:blip r:embed="rId2"/>
          <a:stretch>
            <a:fillRect/>
          </a:stretch>
        </p:blipFill>
        <p:spPr>
          <a:xfrm>
            <a:off x="5997178" y="1043610"/>
            <a:ext cx="5982218" cy="4899990"/>
          </a:xfrm>
          <a:prstGeom prst="rect">
            <a:avLst/>
          </a:prstGeom>
        </p:spPr>
      </p:pic>
      <p:sp>
        <p:nvSpPr>
          <p:cNvPr id="7" name="TextBox 6">
            <a:extLst>
              <a:ext uri="{FF2B5EF4-FFF2-40B4-BE49-F238E27FC236}">
                <a16:creationId xmlns:a16="http://schemas.microsoft.com/office/drawing/2014/main" id="{D2E271F2-7CE6-FB9E-B6CF-0218F9B4D1C6}"/>
              </a:ext>
            </a:extLst>
          </p:cNvPr>
          <p:cNvSpPr txBox="1"/>
          <p:nvPr/>
        </p:nvSpPr>
        <p:spPr>
          <a:xfrm>
            <a:off x="838200" y="1212575"/>
            <a:ext cx="4840356" cy="1477328"/>
          </a:xfrm>
          <a:prstGeom prst="rect">
            <a:avLst/>
          </a:prstGeom>
          <a:noFill/>
        </p:spPr>
        <p:txBody>
          <a:bodyPr wrap="square" rtlCol="0">
            <a:spAutoFit/>
          </a:bodyPr>
          <a:lstStyle/>
          <a:p>
            <a:r>
              <a:rPr lang="en-US" dirty="0"/>
              <a:t>For declaring elements for matrix a and b we use two nested for loops the first loop is for the rows and the inner loop is for columns </a:t>
            </a:r>
          </a:p>
          <a:p>
            <a:endParaRPr lang="en-US" dirty="0"/>
          </a:p>
          <a:p>
            <a:endParaRPr lang="en-US" dirty="0"/>
          </a:p>
        </p:txBody>
      </p:sp>
      <p:graphicFrame>
        <p:nvGraphicFramePr>
          <p:cNvPr id="8" name="Table 7">
            <a:extLst>
              <a:ext uri="{FF2B5EF4-FFF2-40B4-BE49-F238E27FC236}">
                <a16:creationId xmlns:a16="http://schemas.microsoft.com/office/drawing/2014/main" id="{BD0C4256-B054-956C-F553-998DAF5660CB}"/>
              </a:ext>
            </a:extLst>
          </p:cNvPr>
          <p:cNvGraphicFramePr>
            <a:graphicFrameLocks noGrp="1"/>
          </p:cNvGraphicFramePr>
          <p:nvPr>
            <p:extLst>
              <p:ext uri="{D42A27DB-BD31-4B8C-83A1-F6EECF244321}">
                <p14:modId xmlns:p14="http://schemas.microsoft.com/office/powerpoint/2010/main" val="945147410"/>
              </p:ext>
            </p:extLst>
          </p:nvPr>
        </p:nvGraphicFramePr>
        <p:xfrm>
          <a:off x="838200" y="2689903"/>
          <a:ext cx="3965178" cy="2194560"/>
        </p:xfrm>
        <a:graphic>
          <a:graphicData uri="http://schemas.openxmlformats.org/drawingml/2006/table">
            <a:tbl>
              <a:tblPr firstRow="1" bandRow="1">
                <a:tableStyleId>{5C22544A-7EE6-4342-B048-85BDC9FD1C3A}</a:tableStyleId>
              </a:tblPr>
              <a:tblGrid>
                <a:gridCol w="1321726">
                  <a:extLst>
                    <a:ext uri="{9D8B030D-6E8A-4147-A177-3AD203B41FA5}">
                      <a16:colId xmlns:a16="http://schemas.microsoft.com/office/drawing/2014/main" val="2893608306"/>
                    </a:ext>
                  </a:extLst>
                </a:gridCol>
                <a:gridCol w="1321726">
                  <a:extLst>
                    <a:ext uri="{9D8B030D-6E8A-4147-A177-3AD203B41FA5}">
                      <a16:colId xmlns:a16="http://schemas.microsoft.com/office/drawing/2014/main" val="43605567"/>
                    </a:ext>
                  </a:extLst>
                </a:gridCol>
                <a:gridCol w="1321726">
                  <a:extLst>
                    <a:ext uri="{9D8B030D-6E8A-4147-A177-3AD203B41FA5}">
                      <a16:colId xmlns:a16="http://schemas.microsoft.com/office/drawing/2014/main" val="2590558237"/>
                    </a:ext>
                  </a:extLst>
                </a:gridCol>
              </a:tblGrid>
              <a:tr h="343882">
                <a:tc>
                  <a:txBody>
                    <a:bodyPr/>
                    <a:lstStyle/>
                    <a:p>
                      <a:r>
                        <a:rPr lang="en-US" dirty="0" err="1"/>
                        <a:t>i</a:t>
                      </a:r>
                      <a:endParaRPr lang="en-US" dirty="0"/>
                    </a:p>
                  </a:txBody>
                  <a:tcPr/>
                </a:tc>
                <a:tc>
                  <a:txBody>
                    <a:bodyPr/>
                    <a:lstStyle/>
                    <a:p>
                      <a:r>
                        <a:rPr lang="en-US" dirty="0"/>
                        <a:t>j</a:t>
                      </a:r>
                    </a:p>
                  </a:txBody>
                  <a:tcPr/>
                </a:tc>
                <a:tc>
                  <a:txBody>
                    <a:bodyPr/>
                    <a:lstStyle/>
                    <a:p>
                      <a:r>
                        <a:rPr lang="en-US" dirty="0"/>
                        <a:t>a[</a:t>
                      </a:r>
                      <a:r>
                        <a:rPr lang="en-US" dirty="0" err="1"/>
                        <a:t>i</a:t>
                      </a:r>
                      <a:r>
                        <a:rPr lang="en-US" dirty="0"/>
                        <a:t>][j]</a:t>
                      </a:r>
                    </a:p>
                  </a:txBody>
                  <a:tcPr/>
                </a:tc>
                <a:extLst>
                  <a:ext uri="{0D108BD9-81ED-4DB2-BD59-A6C34878D82A}">
                    <a16:rowId xmlns:a16="http://schemas.microsoft.com/office/drawing/2014/main" val="1337880845"/>
                  </a:ext>
                </a:extLst>
              </a:tr>
              <a:tr h="343882">
                <a:tc>
                  <a:txBody>
                    <a:bodyPr/>
                    <a:lstStyle/>
                    <a:p>
                      <a:r>
                        <a:rPr lang="en-US" dirty="0"/>
                        <a:t>0</a:t>
                      </a:r>
                    </a:p>
                  </a:txBody>
                  <a:tcPr/>
                </a:tc>
                <a:tc>
                  <a:txBody>
                    <a:bodyPr/>
                    <a:lstStyle/>
                    <a:p>
                      <a:r>
                        <a:rPr lang="en-US" dirty="0"/>
                        <a:t>0</a:t>
                      </a:r>
                    </a:p>
                  </a:txBody>
                  <a:tcPr/>
                </a:tc>
                <a:tc>
                  <a:txBody>
                    <a:bodyPr/>
                    <a:lstStyle/>
                    <a:p>
                      <a:r>
                        <a:rPr lang="en-US" dirty="0"/>
                        <a:t>a[0][0]</a:t>
                      </a:r>
                    </a:p>
                  </a:txBody>
                  <a:tcPr/>
                </a:tc>
                <a:extLst>
                  <a:ext uri="{0D108BD9-81ED-4DB2-BD59-A6C34878D82A}">
                    <a16:rowId xmlns:a16="http://schemas.microsoft.com/office/drawing/2014/main" val="2921475527"/>
                  </a:ext>
                </a:extLst>
              </a:tr>
              <a:tr h="343882">
                <a:tc>
                  <a:txBody>
                    <a:bodyPr/>
                    <a:lstStyle/>
                    <a:p>
                      <a:r>
                        <a:rPr lang="en-US" dirty="0"/>
                        <a:t>0</a:t>
                      </a:r>
                    </a:p>
                  </a:txBody>
                  <a:tcPr/>
                </a:tc>
                <a:tc>
                  <a:txBody>
                    <a:bodyPr/>
                    <a:lstStyle/>
                    <a:p>
                      <a:r>
                        <a:rPr lang="en-US" dirty="0"/>
                        <a:t>1</a:t>
                      </a:r>
                    </a:p>
                  </a:txBody>
                  <a:tcPr/>
                </a:tc>
                <a:tc>
                  <a:txBody>
                    <a:bodyPr/>
                    <a:lstStyle/>
                    <a:p>
                      <a:r>
                        <a:rPr lang="en-US" dirty="0"/>
                        <a:t>a[0][1]</a:t>
                      </a:r>
                    </a:p>
                  </a:txBody>
                  <a:tcPr/>
                </a:tc>
                <a:extLst>
                  <a:ext uri="{0D108BD9-81ED-4DB2-BD59-A6C34878D82A}">
                    <a16:rowId xmlns:a16="http://schemas.microsoft.com/office/drawing/2014/main" val="4008898474"/>
                  </a:ext>
                </a:extLst>
              </a:tr>
              <a:tr h="343882">
                <a:tc>
                  <a:txBody>
                    <a:bodyPr/>
                    <a:lstStyle/>
                    <a:p>
                      <a:r>
                        <a:rPr lang="en-US" dirty="0"/>
                        <a:t>0</a:t>
                      </a:r>
                    </a:p>
                  </a:txBody>
                  <a:tcPr/>
                </a:tc>
                <a:tc>
                  <a:txBody>
                    <a:bodyPr/>
                    <a:lstStyle/>
                    <a:p>
                      <a:r>
                        <a:rPr lang="en-US" dirty="0"/>
                        <a:t>2</a:t>
                      </a:r>
                    </a:p>
                  </a:txBody>
                  <a:tcPr/>
                </a:tc>
                <a:tc>
                  <a:txBody>
                    <a:bodyPr/>
                    <a:lstStyle/>
                    <a:p>
                      <a:r>
                        <a:rPr lang="en-US" dirty="0"/>
                        <a:t>a[0][2]</a:t>
                      </a:r>
                    </a:p>
                  </a:txBody>
                  <a:tcPr/>
                </a:tc>
                <a:extLst>
                  <a:ext uri="{0D108BD9-81ED-4DB2-BD59-A6C34878D82A}">
                    <a16:rowId xmlns:a16="http://schemas.microsoft.com/office/drawing/2014/main" val="256430431"/>
                  </a:ext>
                </a:extLst>
              </a:tr>
              <a:tr h="343882">
                <a:tc>
                  <a:txBody>
                    <a:bodyPr/>
                    <a:lstStyle/>
                    <a:p>
                      <a:r>
                        <a:rPr lang="en-US" dirty="0"/>
                        <a:t>1</a:t>
                      </a:r>
                    </a:p>
                  </a:txBody>
                  <a:tcPr/>
                </a:tc>
                <a:tc>
                  <a:txBody>
                    <a:bodyPr/>
                    <a:lstStyle/>
                    <a:p>
                      <a:r>
                        <a:rPr lang="en-US" dirty="0"/>
                        <a:t>0</a:t>
                      </a:r>
                    </a:p>
                  </a:txBody>
                  <a:tcPr/>
                </a:tc>
                <a:tc>
                  <a:txBody>
                    <a:bodyPr/>
                    <a:lstStyle/>
                    <a:p>
                      <a:r>
                        <a:rPr lang="en-US" dirty="0"/>
                        <a:t>a[1][0]</a:t>
                      </a:r>
                    </a:p>
                  </a:txBody>
                  <a:tcPr/>
                </a:tc>
                <a:extLst>
                  <a:ext uri="{0D108BD9-81ED-4DB2-BD59-A6C34878D82A}">
                    <a16:rowId xmlns:a16="http://schemas.microsoft.com/office/drawing/2014/main" val="27678330"/>
                  </a:ext>
                </a:extLst>
              </a:tr>
              <a:tr h="343882">
                <a:tc>
                  <a:txBody>
                    <a:bodyPr/>
                    <a:lstStyle/>
                    <a:p>
                      <a:r>
                        <a:rPr lang="en-US" dirty="0"/>
                        <a:t>1</a:t>
                      </a:r>
                    </a:p>
                  </a:txBody>
                  <a:tcPr/>
                </a:tc>
                <a:tc>
                  <a:txBody>
                    <a:bodyPr/>
                    <a:lstStyle/>
                    <a:p>
                      <a:r>
                        <a:rPr lang="en-US" dirty="0"/>
                        <a:t>1</a:t>
                      </a:r>
                    </a:p>
                  </a:txBody>
                  <a:tcPr/>
                </a:tc>
                <a:tc>
                  <a:txBody>
                    <a:bodyPr/>
                    <a:lstStyle/>
                    <a:p>
                      <a:r>
                        <a:rPr lang="en-US" dirty="0"/>
                        <a:t>a[1][1]</a:t>
                      </a:r>
                    </a:p>
                  </a:txBody>
                  <a:tcPr/>
                </a:tc>
                <a:extLst>
                  <a:ext uri="{0D108BD9-81ED-4DB2-BD59-A6C34878D82A}">
                    <a16:rowId xmlns:a16="http://schemas.microsoft.com/office/drawing/2014/main" val="1669561883"/>
                  </a:ext>
                </a:extLst>
              </a:tr>
            </a:tbl>
          </a:graphicData>
        </a:graphic>
      </p:graphicFrame>
    </p:spTree>
    <p:extLst>
      <p:ext uri="{BB962C8B-B14F-4D97-AF65-F5344CB8AC3E}">
        <p14:creationId xmlns:p14="http://schemas.microsoft.com/office/powerpoint/2010/main" val="3258539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BB717-8295-460F-0B92-BB1F3095FEBD}"/>
              </a:ext>
            </a:extLst>
          </p:cNvPr>
          <p:cNvSpPr>
            <a:spLocks noGrp="1"/>
          </p:cNvSpPr>
          <p:nvPr>
            <p:ph type="title"/>
          </p:nvPr>
        </p:nvSpPr>
        <p:spPr/>
        <p:txBody>
          <a:bodyPr/>
          <a:lstStyle/>
          <a:p>
            <a:r>
              <a:rPr lang="en-US" dirty="0"/>
              <a:t>Showing the Matrices </a:t>
            </a:r>
          </a:p>
        </p:txBody>
      </p:sp>
      <p:sp>
        <p:nvSpPr>
          <p:cNvPr id="3" name="Content Placeholder 2">
            <a:extLst>
              <a:ext uri="{FF2B5EF4-FFF2-40B4-BE49-F238E27FC236}">
                <a16:creationId xmlns:a16="http://schemas.microsoft.com/office/drawing/2014/main" id="{5045C2C2-2923-075A-58EB-465326EBBCAB}"/>
              </a:ext>
            </a:extLst>
          </p:cNvPr>
          <p:cNvSpPr>
            <a:spLocks noGrp="1"/>
          </p:cNvSpPr>
          <p:nvPr>
            <p:ph idx="1"/>
          </p:nvPr>
        </p:nvSpPr>
        <p:spPr/>
        <p:txBody>
          <a:bodyPr>
            <a:normAutofit/>
          </a:bodyPr>
          <a:lstStyle/>
          <a:p>
            <a:pPr marL="0" indent="0">
              <a:buNone/>
            </a:pPr>
            <a:r>
              <a:rPr lang="en-US" sz="1800" dirty="0"/>
              <a:t>In these two nested for loops we display the </a:t>
            </a:r>
          </a:p>
          <a:p>
            <a:pPr marL="0" indent="0">
              <a:buNone/>
            </a:pPr>
            <a:r>
              <a:rPr lang="en-US" sz="1800" dirty="0"/>
              <a:t>Elements in matrix like format with only difference</a:t>
            </a:r>
          </a:p>
          <a:p>
            <a:pPr marL="0" indent="0">
              <a:buNone/>
            </a:pPr>
            <a:r>
              <a:rPr lang="en-US" sz="1800" dirty="0" err="1"/>
              <a:t>bieng</a:t>
            </a:r>
            <a:r>
              <a:rPr lang="en-US" sz="1800" dirty="0"/>
              <a:t> the ‘\n’ operator after the inner loop ends.</a:t>
            </a:r>
          </a:p>
          <a:p>
            <a:pPr marL="0" indent="0">
              <a:buNone/>
            </a:pPr>
            <a:r>
              <a:rPr lang="en-US" sz="1800" dirty="0"/>
              <a:t>This is the trick for making that matrix format</a:t>
            </a:r>
          </a:p>
          <a:p>
            <a:pPr marL="0" indent="0">
              <a:buNone/>
            </a:pPr>
            <a:endParaRPr lang="en-US" sz="1800" dirty="0"/>
          </a:p>
        </p:txBody>
      </p:sp>
      <p:pic>
        <p:nvPicPr>
          <p:cNvPr id="5" name="Picture 4">
            <a:extLst>
              <a:ext uri="{FF2B5EF4-FFF2-40B4-BE49-F238E27FC236}">
                <a16:creationId xmlns:a16="http://schemas.microsoft.com/office/drawing/2014/main" id="{D117B307-296B-F2A6-DCF3-8B13A2B5B7DE}"/>
              </a:ext>
            </a:extLst>
          </p:cNvPr>
          <p:cNvPicPr>
            <a:picLocks noChangeAspect="1"/>
          </p:cNvPicPr>
          <p:nvPr/>
        </p:nvPicPr>
        <p:blipFill>
          <a:blip r:embed="rId2"/>
          <a:stretch>
            <a:fillRect/>
          </a:stretch>
        </p:blipFill>
        <p:spPr>
          <a:xfrm>
            <a:off x="6096000" y="1311965"/>
            <a:ext cx="5701748" cy="4939748"/>
          </a:xfrm>
          <a:prstGeom prst="rect">
            <a:avLst/>
          </a:prstGeom>
        </p:spPr>
      </p:pic>
      <p:graphicFrame>
        <p:nvGraphicFramePr>
          <p:cNvPr id="6" name="Table 5">
            <a:extLst>
              <a:ext uri="{FF2B5EF4-FFF2-40B4-BE49-F238E27FC236}">
                <a16:creationId xmlns:a16="http://schemas.microsoft.com/office/drawing/2014/main" id="{C89DFD88-8A8E-C27F-DA8A-228772AE6D17}"/>
              </a:ext>
            </a:extLst>
          </p:cNvPr>
          <p:cNvGraphicFramePr>
            <a:graphicFrameLocks noGrp="1"/>
          </p:cNvGraphicFramePr>
          <p:nvPr>
            <p:extLst>
              <p:ext uri="{D42A27DB-BD31-4B8C-83A1-F6EECF244321}">
                <p14:modId xmlns:p14="http://schemas.microsoft.com/office/powerpoint/2010/main" val="2423929467"/>
              </p:ext>
            </p:extLst>
          </p:nvPr>
        </p:nvGraphicFramePr>
        <p:xfrm>
          <a:off x="620644" y="3681526"/>
          <a:ext cx="5213626" cy="2194560"/>
        </p:xfrm>
        <a:graphic>
          <a:graphicData uri="http://schemas.openxmlformats.org/drawingml/2006/table">
            <a:tbl>
              <a:tblPr firstRow="1" bandRow="1">
                <a:tableStyleId>{5C22544A-7EE6-4342-B048-85BDC9FD1C3A}</a:tableStyleId>
              </a:tblPr>
              <a:tblGrid>
                <a:gridCol w="2606813">
                  <a:extLst>
                    <a:ext uri="{9D8B030D-6E8A-4147-A177-3AD203B41FA5}">
                      <a16:colId xmlns:a16="http://schemas.microsoft.com/office/drawing/2014/main" val="3946588490"/>
                    </a:ext>
                  </a:extLst>
                </a:gridCol>
                <a:gridCol w="2606813">
                  <a:extLst>
                    <a:ext uri="{9D8B030D-6E8A-4147-A177-3AD203B41FA5}">
                      <a16:colId xmlns:a16="http://schemas.microsoft.com/office/drawing/2014/main" val="4067977367"/>
                    </a:ext>
                  </a:extLst>
                </a:gridCol>
              </a:tblGrid>
              <a:tr h="355477">
                <a:tc>
                  <a:txBody>
                    <a:bodyPr/>
                    <a:lstStyle/>
                    <a:p>
                      <a:r>
                        <a:rPr lang="en-US" dirty="0"/>
                        <a:t>A[</a:t>
                      </a:r>
                      <a:r>
                        <a:rPr lang="en-US" dirty="0" err="1"/>
                        <a:t>i</a:t>
                      </a:r>
                      <a:r>
                        <a:rPr lang="en-US" dirty="0"/>
                        <a:t>][j]</a:t>
                      </a:r>
                    </a:p>
                  </a:txBody>
                  <a:tcPr/>
                </a:tc>
                <a:tc>
                  <a:txBody>
                    <a:bodyPr/>
                    <a:lstStyle/>
                    <a:p>
                      <a:r>
                        <a:rPr lang="en-US" dirty="0"/>
                        <a:t>New line</a:t>
                      </a:r>
                    </a:p>
                  </a:txBody>
                  <a:tcPr/>
                </a:tc>
                <a:extLst>
                  <a:ext uri="{0D108BD9-81ED-4DB2-BD59-A6C34878D82A}">
                    <a16:rowId xmlns:a16="http://schemas.microsoft.com/office/drawing/2014/main" val="2169650241"/>
                  </a:ext>
                </a:extLst>
              </a:tr>
              <a:tr h="355477">
                <a:tc>
                  <a:txBody>
                    <a:bodyPr/>
                    <a:lstStyle/>
                    <a:p>
                      <a:r>
                        <a:rPr lang="en-US" dirty="0"/>
                        <a:t>A[0][0]</a:t>
                      </a:r>
                    </a:p>
                  </a:txBody>
                  <a:tcPr/>
                </a:tc>
                <a:tc>
                  <a:txBody>
                    <a:bodyPr/>
                    <a:lstStyle/>
                    <a:p>
                      <a:endParaRPr lang="en-US"/>
                    </a:p>
                  </a:txBody>
                  <a:tcPr/>
                </a:tc>
                <a:extLst>
                  <a:ext uri="{0D108BD9-81ED-4DB2-BD59-A6C34878D82A}">
                    <a16:rowId xmlns:a16="http://schemas.microsoft.com/office/drawing/2014/main" val="15212760"/>
                  </a:ext>
                </a:extLst>
              </a:tr>
              <a:tr h="355477">
                <a:tc>
                  <a:txBody>
                    <a:bodyPr/>
                    <a:lstStyle/>
                    <a:p>
                      <a:r>
                        <a:rPr lang="en-US" dirty="0"/>
                        <a:t>A[0][1]</a:t>
                      </a:r>
                    </a:p>
                  </a:txBody>
                  <a:tcPr/>
                </a:tc>
                <a:tc>
                  <a:txBody>
                    <a:bodyPr/>
                    <a:lstStyle/>
                    <a:p>
                      <a:endParaRPr lang="en-US"/>
                    </a:p>
                  </a:txBody>
                  <a:tcPr/>
                </a:tc>
                <a:extLst>
                  <a:ext uri="{0D108BD9-81ED-4DB2-BD59-A6C34878D82A}">
                    <a16:rowId xmlns:a16="http://schemas.microsoft.com/office/drawing/2014/main" val="313842159"/>
                  </a:ext>
                </a:extLst>
              </a:tr>
              <a:tr h="355477">
                <a:tc>
                  <a:txBody>
                    <a:bodyPr/>
                    <a:lstStyle/>
                    <a:p>
                      <a:r>
                        <a:rPr lang="en-US" dirty="0"/>
                        <a:t>A[0][2]</a:t>
                      </a:r>
                    </a:p>
                  </a:txBody>
                  <a:tcPr/>
                </a:tc>
                <a:tc>
                  <a:txBody>
                    <a:bodyPr/>
                    <a:lstStyle/>
                    <a:p>
                      <a:endParaRPr lang="en-US"/>
                    </a:p>
                  </a:txBody>
                  <a:tcPr/>
                </a:tc>
                <a:extLst>
                  <a:ext uri="{0D108BD9-81ED-4DB2-BD59-A6C34878D82A}">
                    <a16:rowId xmlns:a16="http://schemas.microsoft.com/office/drawing/2014/main" val="298567759"/>
                  </a:ext>
                </a:extLst>
              </a:tr>
              <a:tr h="355477">
                <a:tc>
                  <a:txBody>
                    <a:bodyPr/>
                    <a:lstStyle/>
                    <a:p>
                      <a:endParaRPr lang="en-US"/>
                    </a:p>
                  </a:txBody>
                  <a:tcPr/>
                </a:tc>
                <a:tc>
                  <a:txBody>
                    <a:bodyPr/>
                    <a:lstStyle/>
                    <a:p>
                      <a:r>
                        <a:rPr lang="en-US" dirty="0"/>
                        <a:t>\n</a:t>
                      </a:r>
                    </a:p>
                  </a:txBody>
                  <a:tcPr/>
                </a:tc>
                <a:extLst>
                  <a:ext uri="{0D108BD9-81ED-4DB2-BD59-A6C34878D82A}">
                    <a16:rowId xmlns:a16="http://schemas.microsoft.com/office/drawing/2014/main" val="2861522936"/>
                  </a:ext>
                </a:extLst>
              </a:tr>
              <a:tr h="355477">
                <a:tc>
                  <a:txBody>
                    <a:bodyPr/>
                    <a:lstStyle/>
                    <a:p>
                      <a:r>
                        <a:rPr lang="en-US" dirty="0"/>
                        <a:t>A[1][0]</a:t>
                      </a:r>
                    </a:p>
                  </a:txBody>
                  <a:tcPr/>
                </a:tc>
                <a:tc>
                  <a:txBody>
                    <a:bodyPr/>
                    <a:lstStyle/>
                    <a:p>
                      <a:endParaRPr lang="en-US" dirty="0"/>
                    </a:p>
                  </a:txBody>
                  <a:tcPr/>
                </a:tc>
                <a:extLst>
                  <a:ext uri="{0D108BD9-81ED-4DB2-BD59-A6C34878D82A}">
                    <a16:rowId xmlns:a16="http://schemas.microsoft.com/office/drawing/2014/main" val="1554272149"/>
                  </a:ext>
                </a:extLst>
              </a:tr>
            </a:tbl>
          </a:graphicData>
        </a:graphic>
      </p:graphicFrame>
    </p:spTree>
    <p:extLst>
      <p:ext uri="{BB962C8B-B14F-4D97-AF65-F5344CB8AC3E}">
        <p14:creationId xmlns:p14="http://schemas.microsoft.com/office/powerpoint/2010/main" val="41881684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2827C0-F92C-E2C2-CFB8-06547B7EDA1E}"/>
              </a:ext>
            </a:extLst>
          </p:cNvPr>
          <p:cNvSpPr>
            <a:spLocks noGrp="1"/>
          </p:cNvSpPr>
          <p:nvPr>
            <p:ph type="title"/>
          </p:nvPr>
        </p:nvSpPr>
        <p:spPr/>
        <p:txBody>
          <a:bodyPr/>
          <a:lstStyle/>
          <a:p>
            <a:r>
              <a:rPr lang="en-US" dirty="0"/>
              <a:t>Operations</a:t>
            </a:r>
          </a:p>
        </p:txBody>
      </p:sp>
      <p:pic>
        <p:nvPicPr>
          <p:cNvPr id="5" name="Content Placeholder 4">
            <a:extLst>
              <a:ext uri="{FF2B5EF4-FFF2-40B4-BE49-F238E27FC236}">
                <a16:creationId xmlns:a16="http://schemas.microsoft.com/office/drawing/2014/main" id="{0C67E7C1-947C-2831-84B2-FD088FF38DDF}"/>
              </a:ext>
            </a:extLst>
          </p:cNvPr>
          <p:cNvPicPr>
            <a:picLocks noGrp="1" noChangeAspect="1"/>
          </p:cNvPicPr>
          <p:nvPr>
            <p:ph idx="1"/>
          </p:nvPr>
        </p:nvPicPr>
        <p:blipFill>
          <a:blip r:embed="rId2"/>
          <a:stretch>
            <a:fillRect/>
          </a:stretch>
        </p:blipFill>
        <p:spPr>
          <a:xfrm>
            <a:off x="5208104" y="1852910"/>
            <a:ext cx="6861165" cy="937341"/>
          </a:xfrm>
          <a:prstGeom prst="rect">
            <a:avLst/>
          </a:prstGeom>
        </p:spPr>
      </p:pic>
      <p:sp>
        <p:nvSpPr>
          <p:cNvPr id="6" name="TextBox 5">
            <a:extLst>
              <a:ext uri="{FF2B5EF4-FFF2-40B4-BE49-F238E27FC236}">
                <a16:creationId xmlns:a16="http://schemas.microsoft.com/office/drawing/2014/main" id="{D7689FA4-E30C-C983-5F88-03B77AD12D63}"/>
              </a:ext>
            </a:extLst>
          </p:cNvPr>
          <p:cNvSpPr txBox="1"/>
          <p:nvPr/>
        </p:nvSpPr>
        <p:spPr>
          <a:xfrm>
            <a:off x="308113" y="1550504"/>
            <a:ext cx="4631635" cy="2031325"/>
          </a:xfrm>
          <a:prstGeom prst="rect">
            <a:avLst/>
          </a:prstGeom>
          <a:noFill/>
        </p:spPr>
        <p:txBody>
          <a:bodyPr wrap="square" rtlCol="0">
            <a:spAutoFit/>
          </a:bodyPr>
          <a:lstStyle/>
          <a:p>
            <a:r>
              <a:rPr lang="en-US" dirty="0"/>
              <a:t>After displaying the matrices we ask the user to</a:t>
            </a:r>
          </a:p>
          <a:p>
            <a:r>
              <a:rPr lang="en-US" dirty="0"/>
              <a:t>Enter number corresponding to the operations</a:t>
            </a:r>
          </a:p>
          <a:p>
            <a:r>
              <a:rPr lang="en-US" dirty="0"/>
              <a:t>In the program user will enter 1 for addition or 2 For subtraction and so on. After the user make the choice we use the switch statement which contains the operations as cases</a:t>
            </a:r>
          </a:p>
          <a:p>
            <a:endParaRPr lang="en-US" dirty="0"/>
          </a:p>
        </p:txBody>
      </p:sp>
    </p:spTree>
    <p:extLst>
      <p:ext uri="{BB962C8B-B14F-4D97-AF65-F5344CB8AC3E}">
        <p14:creationId xmlns:p14="http://schemas.microsoft.com/office/powerpoint/2010/main" val="30976251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7EB81-2C4C-CDAE-4E94-7ADFCCF86F6D}"/>
              </a:ext>
            </a:extLst>
          </p:cNvPr>
          <p:cNvSpPr>
            <a:spLocks noGrp="1"/>
          </p:cNvSpPr>
          <p:nvPr>
            <p:ph type="title"/>
          </p:nvPr>
        </p:nvSpPr>
        <p:spPr/>
        <p:txBody>
          <a:bodyPr/>
          <a:lstStyle/>
          <a:p>
            <a:r>
              <a:rPr lang="en-US" dirty="0"/>
              <a:t>Addition</a:t>
            </a:r>
          </a:p>
        </p:txBody>
      </p:sp>
      <p:pic>
        <p:nvPicPr>
          <p:cNvPr id="5" name="Content Placeholder 4">
            <a:extLst>
              <a:ext uri="{FF2B5EF4-FFF2-40B4-BE49-F238E27FC236}">
                <a16:creationId xmlns:a16="http://schemas.microsoft.com/office/drawing/2014/main" id="{6E797BC6-8553-5341-55DC-596524B783A2}"/>
              </a:ext>
            </a:extLst>
          </p:cNvPr>
          <p:cNvPicPr>
            <a:picLocks noGrp="1" noChangeAspect="1"/>
          </p:cNvPicPr>
          <p:nvPr>
            <p:ph idx="1"/>
          </p:nvPr>
        </p:nvPicPr>
        <p:blipFill>
          <a:blip r:embed="rId2"/>
          <a:stretch>
            <a:fillRect/>
          </a:stretch>
        </p:blipFill>
        <p:spPr>
          <a:xfrm>
            <a:off x="6331226" y="1143664"/>
            <a:ext cx="5647924" cy="4780057"/>
          </a:xfrm>
          <a:prstGeom prst="rect">
            <a:avLst/>
          </a:prstGeom>
        </p:spPr>
      </p:pic>
      <p:graphicFrame>
        <p:nvGraphicFramePr>
          <p:cNvPr id="6" name="Table 5">
            <a:extLst>
              <a:ext uri="{FF2B5EF4-FFF2-40B4-BE49-F238E27FC236}">
                <a16:creationId xmlns:a16="http://schemas.microsoft.com/office/drawing/2014/main" id="{636FD547-BC03-B3C1-EBC8-FB36A4BA91ED}"/>
              </a:ext>
            </a:extLst>
          </p:cNvPr>
          <p:cNvGraphicFramePr>
            <a:graphicFrameLocks noGrp="1"/>
          </p:cNvGraphicFramePr>
          <p:nvPr>
            <p:extLst>
              <p:ext uri="{D42A27DB-BD31-4B8C-83A1-F6EECF244321}">
                <p14:modId xmlns:p14="http://schemas.microsoft.com/office/powerpoint/2010/main" val="3236184549"/>
              </p:ext>
            </p:extLst>
          </p:nvPr>
        </p:nvGraphicFramePr>
        <p:xfrm>
          <a:off x="838200" y="1582163"/>
          <a:ext cx="4711149" cy="4341558"/>
        </p:xfrm>
        <a:graphic>
          <a:graphicData uri="http://schemas.openxmlformats.org/drawingml/2006/table">
            <a:tbl>
              <a:tblPr firstRow="1" bandRow="1">
                <a:tableStyleId>{5C22544A-7EE6-4342-B048-85BDC9FD1C3A}</a:tableStyleId>
              </a:tblPr>
              <a:tblGrid>
                <a:gridCol w="1570383">
                  <a:extLst>
                    <a:ext uri="{9D8B030D-6E8A-4147-A177-3AD203B41FA5}">
                      <a16:colId xmlns:a16="http://schemas.microsoft.com/office/drawing/2014/main" val="835163482"/>
                    </a:ext>
                  </a:extLst>
                </a:gridCol>
                <a:gridCol w="1570383">
                  <a:extLst>
                    <a:ext uri="{9D8B030D-6E8A-4147-A177-3AD203B41FA5}">
                      <a16:colId xmlns:a16="http://schemas.microsoft.com/office/drawing/2014/main" val="1527666996"/>
                    </a:ext>
                  </a:extLst>
                </a:gridCol>
                <a:gridCol w="1570383">
                  <a:extLst>
                    <a:ext uri="{9D8B030D-6E8A-4147-A177-3AD203B41FA5}">
                      <a16:colId xmlns:a16="http://schemas.microsoft.com/office/drawing/2014/main" val="662181773"/>
                    </a:ext>
                  </a:extLst>
                </a:gridCol>
              </a:tblGrid>
              <a:tr h="723593">
                <a:tc>
                  <a:txBody>
                    <a:bodyPr/>
                    <a:lstStyle/>
                    <a:p>
                      <a:r>
                        <a:rPr lang="en-US" dirty="0"/>
                        <a:t>A[</a:t>
                      </a:r>
                      <a:r>
                        <a:rPr lang="en-US" dirty="0" err="1"/>
                        <a:t>i</a:t>
                      </a:r>
                      <a:r>
                        <a:rPr lang="en-US" dirty="0"/>
                        <a:t>][j]</a:t>
                      </a:r>
                    </a:p>
                  </a:txBody>
                  <a:tcPr/>
                </a:tc>
                <a:tc>
                  <a:txBody>
                    <a:bodyPr/>
                    <a:lstStyle/>
                    <a:p>
                      <a:r>
                        <a:rPr lang="en-US" dirty="0"/>
                        <a:t>B[</a:t>
                      </a:r>
                      <a:r>
                        <a:rPr lang="en-US" dirty="0" err="1"/>
                        <a:t>i</a:t>
                      </a:r>
                      <a:r>
                        <a:rPr lang="en-US" dirty="0"/>
                        <a:t>][j]</a:t>
                      </a:r>
                    </a:p>
                  </a:txBody>
                  <a:tcPr/>
                </a:tc>
                <a:tc>
                  <a:txBody>
                    <a:bodyPr/>
                    <a:lstStyle/>
                    <a:p>
                      <a:r>
                        <a:rPr lang="en-US" dirty="0"/>
                        <a:t>Res[</a:t>
                      </a:r>
                      <a:r>
                        <a:rPr lang="en-US" dirty="0" err="1"/>
                        <a:t>i</a:t>
                      </a:r>
                      <a:r>
                        <a:rPr lang="en-US" dirty="0"/>
                        <a:t>][j]</a:t>
                      </a:r>
                    </a:p>
                  </a:txBody>
                  <a:tcPr/>
                </a:tc>
                <a:extLst>
                  <a:ext uri="{0D108BD9-81ED-4DB2-BD59-A6C34878D82A}">
                    <a16:rowId xmlns:a16="http://schemas.microsoft.com/office/drawing/2014/main" val="4152770966"/>
                  </a:ext>
                </a:extLst>
              </a:tr>
              <a:tr h="723593">
                <a:tc>
                  <a:txBody>
                    <a:bodyPr/>
                    <a:lstStyle/>
                    <a:p>
                      <a:r>
                        <a:rPr lang="en-US" dirty="0"/>
                        <a:t>A[0][0]=1</a:t>
                      </a:r>
                    </a:p>
                  </a:txBody>
                  <a:tcPr/>
                </a:tc>
                <a:tc>
                  <a:txBody>
                    <a:bodyPr/>
                    <a:lstStyle/>
                    <a:p>
                      <a:r>
                        <a:rPr lang="en-US" dirty="0"/>
                        <a:t>B[0][0]=3</a:t>
                      </a:r>
                    </a:p>
                  </a:txBody>
                  <a:tcPr/>
                </a:tc>
                <a:tc>
                  <a:txBody>
                    <a:bodyPr/>
                    <a:lstStyle/>
                    <a:p>
                      <a:r>
                        <a:rPr lang="en-US" dirty="0"/>
                        <a:t>Res[0][0] = 4</a:t>
                      </a:r>
                    </a:p>
                  </a:txBody>
                  <a:tcPr/>
                </a:tc>
                <a:extLst>
                  <a:ext uri="{0D108BD9-81ED-4DB2-BD59-A6C34878D82A}">
                    <a16:rowId xmlns:a16="http://schemas.microsoft.com/office/drawing/2014/main" val="3357214020"/>
                  </a:ext>
                </a:extLst>
              </a:tr>
              <a:tr h="723593">
                <a:tc>
                  <a:txBody>
                    <a:bodyPr/>
                    <a:lstStyle/>
                    <a:p>
                      <a:r>
                        <a:rPr lang="en-US" dirty="0"/>
                        <a:t>A[0][1]=8</a:t>
                      </a:r>
                    </a:p>
                  </a:txBody>
                  <a:tcPr/>
                </a:tc>
                <a:tc>
                  <a:txBody>
                    <a:bodyPr/>
                    <a:lstStyle/>
                    <a:p>
                      <a:r>
                        <a:rPr lang="en-US" dirty="0"/>
                        <a:t>B[0][1]=6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Res[0][1] = 14</a:t>
                      </a:r>
                    </a:p>
                    <a:p>
                      <a:endParaRPr lang="en-US" dirty="0"/>
                    </a:p>
                  </a:txBody>
                  <a:tcPr/>
                </a:tc>
                <a:extLst>
                  <a:ext uri="{0D108BD9-81ED-4DB2-BD59-A6C34878D82A}">
                    <a16:rowId xmlns:a16="http://schemas.microsoft.com/office/drawing/2014/main" val="1005166000"/>
                  </a:ext>
                </a:extLst>
              </a:tr>
              <a:tr h="723593">
                <a:tc>
                  <a:txBody>
                    <a:bodyPr/>
                    <a:lstStyle/>
                    <a:p>
                      <a:r>
                        <a:rPr lang="en-US" dirty="0"/>
                        <a:t>A[0][2]=4</a:t>
                      </a:r>
                    </a:p>
                  </a:txBody>
                  <a:tcPr/>
                </a:tc>
                <a:tc>
                  <a:txBody>
                    <a:bodyPr/>
                    <a:lstStyle/>
                    <a:p>
                      <a:r>
                        <a:rPr lang="en-US" dirty="0"/>
                        <a:t>B[0][2]=5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Res[0][2] = 9</a:t>
                      </a:r>
                    </a:p>
                    <a:p>
                      <a:endParaRPr lang="en-US" dirty="0"/>
                    </a:p>
                  </a:txBody>
                  <a:tcPr/>
                </a:tc>
                <a:extLst>
                  <a:ext uri="{0D108BD9-81ED-4DB2-BD59-A6C34878D82A}">
                    <a16:rowId xmlns:a16="http://schemas.microsoft.com/office/drawing/2014/main" val="4237828733"/>
                  </a:ext>
                </a:extLst>
              </a:tr>
              <a:tr h="723593">
                <a:tc>
                  <a:txBody>
                    <a:bodyPr/>
                    <a:lstStyle/>
                    <a:p>
                      <a:r>
                        <a:rPr lang="en-US" dirty="0"/>
                        <a:t>A[1][0]=2</a:t>
                      </a:r>
                    </a:p>
                  </a:txBody>
                  <a:tcPr/>
                </a:tc>
                <a:tc>
                  <a:txBody>
                    <a:bodyPr/>
                    <a:lstStyle/>
                    <a:p>
                      <a:r>
                        <a:rPr lang="en-US" dirty="0"/>
                        <a:t>B[1][0]=4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Res[1][0] = 6</a:t>
                      </a:r>
                    </a:p>
                    <a:p>
                      <a:endParaRPr lang="en-US" dirty="0"/>
                    </a:p>
                  </a:txBody>
                  <a:tcPr/>
                </a:tc>
                <a:extLst>
                  <a:ext uri="{0D108BD9-81ED-4DB2-BD59-A6C34878D82A}">
                    <a16:rowId xmlns:a16="http://schemas.microsoft.com/office/drawing/2014/main" val="2760712870"/>
                  </a:ext>
                </a:extLst>
              </a:tr>
              <a:tr h="723593">
                <a:tc>
                  <a:txBody>
                    <a:bodyPr/>
                    <a:lstStyle/>
                    <a:p>
                      <a:r>
                        <a:rPr lang="en-US" dirty="0"/>
                        <a:t>a[1][1]=8</a:t>
                      </a:r>
                    </a:p>
                  </a:txBody>
                  <a:tcPr/>
                </a:tc>
                <a:tc>
                  <a:txBody>
                    <a:bodyPr/>
                    <a:lstStyle/>
                    <a:p>
                      <a:r>
                        <a:rPr lang="en-US" dirty="0"/>
                        <a:t>B[1][1]=6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Res[1][1] = 14</a:t>
                      </a:r>
                    </a:p>
                    <a:p>
                      <a:endParaRPr lang="en-US" dirty="0"/>
                    </a:p>
                  </a:txBody>
                  <a:tcPr/>
                </a:tc>
                <a:extLst>
                  <a:ext uri="{0D108BD9-81ED-4DB2-BD59-A6C34878D82A}">
                    <a16:rowId xmlns:a16="http://schemas.microsoft.com/office/drawing/2014/main" val="2270812017"/>
                  </a:ext>
                </a:extLst>
              </a:tr>
            </a:tbl>
          </a:graphicData>
        </a:graphic>
      </p:graphicFrame>
    </p:spTree>
    <p:extLst>
      <p:ext uri="{BB962C8B-B14F-4D97-AF65-F5344CB8AC3E}">
        <p14:creationId xmlns:p14="http://schemas.microsoft.com/office/powerpoint/2010/main" val="5435006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FAC74F-B7F6-ADBA-744F-1F12BE9E6A19}"/>
              </a:ext>
            </a:extLst>
          </p:cNvPr>
          <p:cNvSpPr>
            <a:spLocks noGrp="1"/>
          </p:cNvSpPr>
          <p:nvPr>
            <p:ph type="title"/>
          </p:nvPr>
        </p:nvSpPr>
        <p:spPr/>
        <p:txBody>
          <a:bodyPr/>
          <a:lstStyle/>
          <a:p>
            <a:r>
              <a:rPr lang="en-US" dirty="0"/>
              <a:t>Subtraction</a:t>
            </a:r>
          </a:p>
        </p:txBody>
      </p:sp>
      <p:pic>
        <p:nvPicPr>
          <p:cNvPr id="5" name="Picture 4">
            <a:extLst>
              <a:ext uri="{FF2B5EF4-FFF2-40B4-BE49-F238E27FC236}">
                <a16:creationId xmlns:a16="http://schemas.microsoft.com/office/drawing/2014/main" id="{4B40BD1B-2C21-D042-1191-22F4B71B364C}"/>
              </a:ext>
            </a:extLst>
          </p:cNvPr>
          <p:cNvPicPr>
            <a:picLocks noChangeAspect="1"/>
          </p:cNvPicPr>
          <p:nvPr/>
        </p:nvPicPr>
        <p:blipFill>
          <a:blip r:embed="rId2"/>
          <a:stretch>
            <a:fillRect/>
          </a:stretch>
        </p:blipFill>
        <p:spPr>
          <a:xfrm>
            <a:off x="6096000" y="1825624"/>
            <a:ext cx="5334462" cy="4351337"/>
          </a:xfrm>
          <a:prstGeom prst="rect">
            <a:avLst/>
          </a:prstGeom>
        </p:spPr>
      </p:pic>
      <p:graphicFrame>
        <p:nvGraphicFramePr>
          <p:cNvPr id="10" name="Content Placeholder 9">
            <a:extLst>
              <a:ext uri="{FF2B5EF4-FFF2-40B4-BE49-F238E27FC236}">
                <a16:creationId xmlns:a16="http://schemas.microsoft.com/office/drawing/2014/main" id="{BB3DBFA8-29F1-6C0C-5CFE-C5098564DFA6}"/>
              </a:ext>
            </a:extLst>
          </p:cNvPr>
          <p:cNvGraphicFramePr>
            <a:graphicFrameLocks noGrp="1"/>
          </p:cNvGraphicFramePr>
          <p:nvPr>
            <p:ph idx="1"/>
            <p:extLst>
              <p:ext uri="{D42A27DB-BD31-4B8C-83A1-F6EECF244321}">
                <p14:modId xmlns:p14="http://schemas.microsoft.com/office/powerpoint/2010/main" val="2448479558"/>
              </p:ext>
            </p:extLst>
          </p:nvPr>
        </p:nvGraphicFramePr>
        <p:xfrm>
          <a:off x="838199" y="1825625"/>
          <a:ext cx="4886739" cy="4351338"/>
        </p:xfrm>
        <a:graphic>
          <a:graphicData uri="http://schemas.openxmlformats.org/drawingml/2006/table">
            <a:tbl>
              <a:tblPr firstRow="1" bandRow="1">
                <a:tableStyleId>{5C22544A-7EE6-4342-B048-85BDC9FD1C3A}</a:tableStyleId>
              </a:tblPr>
              <a:tblGrid>
                <a:gridCol w="1628913">
                  <a:extLst>
                    <a:ext uri="{9D8B030D-6E8A-4147-A177-3AD203B41FA5}">
                      <a16:colId xmlns:a16="http://schemas.microsoft.com/office/drawing/2014/main" val="3849922432"/>
                    </a:ext>
                  </a:extLst>
                </a:gridCol>
                <a:gridCol w="1628913">
                  <a:extLst>
                    <a:ext uri="{9D8B030D-6E8A-4147-A177-3AD203B41FA5}">
                      <a16:colId xmlns:a16="http://schemas.microsoft.com/office/drawing/2014/main" val="1979891550"/>
                    </a:ext>
                  </a:extLst>
                </a:gridCol>
                <a:gridCol w="1628913">
                  <a:extLst>
                    <a:ext uri="{9D8B030D-6E8A-4147-A177-3AD203B41FA5}">
                      <a16:colId xmlns:a16="http://schemas.microsoft.com/office/drawing/2014/main" val="813972659"/>
                    </a:ext>
                  </a:extLst>
                </a:gridCol>
              </a:tblGrid>
              <a:tr h="725223">
                <a:tc>
                  <a:txBody>
                    <a:bodyPr/>
                    <a:lstStyle/>
                    <a:p>
                      <a:r>
                        <a:rPr lang="en-US" dirty="0"/>
                        <a:t>A[</a:t>
                      </a:r>
                      <a:r>
                        <a:rPr lang="en-US" dirty="0" err="1"/>
                        <a:t>i</a:t>
                      </a:r>
                      <a:r>
                        <a:rPr lang="en-US" dirty="0"/>
                        <a:t>][j]</a:t>
                      </a:r>
                    </a:p>
                  </a:txBody>
                  <a:tcPr/>
                </a:tc>
                <a:tc>
                  <a:txBody>
                    <a:bodyPr/>
                    <a:lstStyle/>
                    <a:p>
                      <a:r>
                        <a:rPr lang="en-US" dirty="0"/>
                        <a:t>B[</a:t>
                      </a:r>
                      <a:r>
                        <a:rPr lang="en-US" dirty="0" err="1"/>
                        <a:t>i</a:t>
                      </a:r>
                      <a:r>
                        <a:rPr lang="en-US" dirty="0"/>
                        <a:t>][j]</a:t>
                      </a:r>
                    </a:p>
                  </a:txBody>
                  <a:tcPr/>
                </a:tc>
                <a:tc>
                  <a:txBody>
                    <a:bodyPr/>
                    <a:lstStyle/>
                    <a:p>
                      <a:r>
                        <a:rPr lang="en-US" dirty="0"/>
                        <a:t>Res[</a:t>
                      </a:r>
                      <a:r>
                        <a:rPr lang="en-US" dirty="0" err="1"/>
                        <a:t>i</a:t>
                      </a:r>
                      <a:r>
                        <a:rPr lang="en-US" dirty="0"/>
                        <a:t>][j]</a:t>
                      </a:r>
                    </a:p>
                  </a:txBody>
                  <a:tcPr/>
                </a:tc>
                <a:extLst>
                  <a:ext uri="{0D108BD9-81ED-4DB2-BD59-A6C34878D82A}">
                    <a16:rowId xmlns:a16="http://schemas.microsoft.com/office/drawing/2014/main" val="344208146"/>
                  </a:ext>
                </a:extLst>
              </a:tr>
              <a:tr h="72522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A[0][0] = 1</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B[0][0] = 3</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Res[0][0] = -2</a:t>
                      </a:r>
                    </a:p>
                    <a:p>
                      <a:endParaRPr lang="en-US" dirty="0"/>
                    </a:p>
                  </a:txBody>
                  <a:tcPr/>
                </a:tc>
                <a:extLst>
                  <a:ext uri="{0D108BD9-81ED-4DB2-BD59-A6C34878D82A}">
                    <a16:rowId xmlns:a16="http://schemas.microsoft.com/office/drawing/2014/main" val="554768135"/>
                  </a:ext>
                </a:extLst>
              </a:tr>
              <a:tr h="72522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A[0][1] = 8</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B[0][1] = 6</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Res[0][1] = 2</a:t>
                      </a:r>
                    </a:p>
                    <a:p>
                      <a:endParaRPr lang="en-US" dirty="0"/>
                    </a:p>
                  </a:txBody>
                  <a:tcPr/>
                </a:tc>
                <a:extLst>
                  <a:ext uri="{0D108BD9-81ED-4DB2-BD59-A6C34878D82A}">
                    <a16:rowId xmlns:a16="http://schemas.microsoft.com/office/drawing/2014/main" val="3021949178"/>
                  </a:ext>
                </a:extLst>
              </a:tr>
              <a:tr h="72522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A[0][2] = 4</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B[0][2] = 5</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Res[0][2] = -1</a:t>
                      </a:r>
                    </a:p>
                    <a:p>
                      <a:endParaRPr lang="en-US" dirty="0"/>
                    </a:p>
                  </a:txBody>
                  <a:tcPr/>
                </a:tc>
                <a:extLst>
                  <a:ext uri="{0D108BD9-81ED-4DB2-BD59-A6C34878D82A}">
                    <a16:rowId xmlns:a16="http://schemas.microsoft.com/office/drawing/2014/main" val="1734822435"/>
                  </a:ext>
                </a:extLst>
              </a:tr>
              <a:tr h="72522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A[1][0] = 2</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B[1][0] = 4</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Res[1][0] = -2</a:t>
                      </a:r>
                    </a:p>
                    <a:p>
                      <a:endParaRPr lang="en-US" dirty="0"/>
                    </a:p>
                  </a:txBody>
                  <a:tcPr/>
                </a:tc>
                <a:extLst>
                  <a:ext uri="{0D108BD9-81ED-4DB2-BD59-A6C34878D82A}">
                    <a16:rowId xmlns:a16="http://schemas.microsoft.com/office/drawing/2014/main" val="3594586905"/>
                  </a:ext>
                </a:extLst>
              </a:tr>
              <a:tr h="72522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A[1][1] = 8</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B[1][1] = 6</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Res[1][1] = 2</a:t>
                      </a:r>
                    </a:p>
                    <a:p>
                      <a:endParaRPr lang="en-US" dirty="0"/>
                    </a:p>
                  </a:txBody>
                  <a:tcPr/>
                </a:tc>
                <a:extLst>
                  <a:ext uri="{0D108BD9-81ED-4DB2-BD59-A6C34878D82A}">
                    <a16:rowId xmlns:a16="http://schemas.microsoft.com/office/drawing/2014/main" val="2350474081"/>
                  </a:ext>
                </a:extLst>
              </a:tr>
            </a:tbl>
          </a:graphicData>
        </a:graphic>
      </p:graphicFrame>
    </p:spTree>
    <p:extLst>
      <p:ext uri="{BB962C8B-B14F-4D97-AF65-F5344CB8AC3E}">
        <p14:creationId xmlns:p14="http://schemas.microsoft.com/office/powerpoint/2010/main" val="26888639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4287B-78DB-5D53-D133-AC3F960FDDA9}"/>
              </a:ext>
            </a:extLst>
          </p:cNvPr>
          <p:cNvSpPr>
            <a:spLocks noGrp="1"/>
          </p:cNvSpPr>
          <p:nvPr>
            <p:ph type="title"/>
          </p:nvPr>
        </p:nvSpPr>
        <p:spPr>
          <a:xfrm>
            <a:off x="838200" y="365125"/>
            <a:ext cx="10515600" cy="827571"/>
          </a:xfrm>
        </p:spPr>
        <p:txBody>
          <a:bodyPr/>
          <a:lstStyle/>
          <a:p>
            <a:r>
              <a:rPr lang="en-US" dirty="0"/>
              <a:t>Multiplication</a:t>
            </a:r>
          </a:p>
        </p:txBody>
      </p:sp>
      <p:pic>
        <p:nvPicPr>
          <p:cNvPr id="9" name="Content Placeholder 8">
            <a:extLst>
              <a:ext uri="{FF2B5EF4-FFF2-40B4-BE49-F238E27FC236}">
                <a16:creationId xmlns:a16="http://schemas.microsoft.com/office/drawing/2014/main" id="{9C467AB2-A311-93A8-0039-85C79B343752}"/>
              </a:ext>
            </a:extLst>
          </p:cNvPr>
          <p:cNvPicPr>
            <a:picLocks noGrp="1" noChangeAspect="1"/>
          </p:cNvPicPr>
          <p:nvPr>
            <p:ph idx="1"/>
          </p:nvPr>
        </p:nvPicPr>
        <p:blipFill>
          <a:blip r:embed="rId2"/>
          <a:stretch>
            <a:fillRect/>
          </a:stretch>
        </p:blipFill>
        <p:spPr>
          <a:xfrm>
            <a:off x="6788427" y="1102627"/>
            <a:ext cx="5098152" cy="4860851"/>
          </a:xfrm>
          <a:prstGeom prst="rect">
            <a:avLst/>
          </a:prstGeom>
        </p:spPr>
      </p:pic>
      <p:sp>
        <p:nvSpPr>
          <p:cNvPr id="10" name="TextBox 9">
            <a:extLst>
              <a:ext uri="{FF2B5EF4-FFF2-40B4-BE49-F238E27FC236}">
                <a16:creationId xmlns:a16="http://schemas.microsoft.com/office/drawing/2014/main" id="{36E7B7CE-651A-C3FC-9570-CA5C93BE7953}"/>
              </a:ext>
            </a:extLst>
          </p:cNvPr>
          <p:cNvSpPr txBox="1"/>
          <p:nvPr/>
        </p:nvSpPr>
        <p:spPr>
          <a:xfrm>
            <a:off x="305421" y="1192696"/>
            <a:ext cx="6214649" cy="4801314"/>
          </a:xfrm>
          <a:prstGeom prst="rect">
            <a:avLst/>
          </a:prstGeom>
          <a:noFill/>
        </p:spPr>
        <p:txBody>
          <a:bodyPr wrap="square" rtlCol="0">
            <a:spAutoFit/>
          </a:bodyPr>
          <a:lstStyle/>
          <a:p>
            <a:r>
              <a:rPr lang="en-US" dirty="0"/>
              <a:t>For Multiplication we use 3 loops </a:t>
            </a:r>
          </a:p>
          <a:p>
            <a:r>
              <a:rPr lang="en-US" dirty="0"/>
              <a:t>First loop is for each row of matrix a the second loop is for the columns of matrix b the third loop is for multiplying a and b and saving it to the resultant matrix</a:t>
            </a:r>
          </a:p>
          <a:p>
            <a:r>
              <a:rPr lang="en-US" dirty="0"/>
              <a:t>We set resultant matrix to zero before multiplying to avoid saving garbage value from previous calculations</a:t>
            </a:r>
          </a:p>
          <a:p>
            <a:r>
              <a:rPr lang="en-US" dirty="0"/>
              <a:t>The multiplication will occur from multiplying the elements of</a:t>
            </a:r>
          </a:p>
          <a:p>
            <a:r>
              <a:rPr lang="en-US" dirty="0"/>
              <a:t>Matrix a row wise to elements of matrix b column wise and add them. </a:t>
            </a:r>
          </a:p>
          <a:p>
            <a:endParaRPr lang="en-US" dirty="0"/>
          </a:p>
          <a:p>
            <a:r>
              <a:rPr lang="en-US" dirty="0"/>
              <a:t>Eg res[0][0] = 0 + a[0][0] x b[0][0];</a:t>
            </a:r>
          </a:p>
          <a:p>
            <a:r>
              <a:rPr lang="en-US" dirty="0"/>
              <a:t>      res[0][0] = a[0][0] x b[0][0] + a[0][1] x b[1][0];</a:t>
            </a:r>
          </a:p>
          <a:p>
            <a:r>
              <a:rPr lang="en-US" dirty="0"/>
              <a:t>      res[0][0] = a[0][0] x b[0][0] + a[0][1] x b[1][0] + a[0][2] x    b[2][0];</a:t>
            </a:r>
          </a:p>
          <a:p>
            <a:endParaRPr lang="en-US" dirty="0"/>
          </a:p>
          <a:p>
            <a:r>
              <a:rPr lang="en-US" dirty="0"/>
              <a:t>After multiplying we use another nested for loop to display the </a:t>
            </a:r>
          </a:p>
          <a:p>
            <a:r>
              <a:rPr lang="en-US" dirty="0"/>
              <a:t>Multiplied matrix</a:t>
            </a:r>
          </a:p>
        </p:txBody>
      </p:sp>
    </p:spTree>
    <p:extLst>
      <p:ext uri="{BB962C8B-B14F-4D97-AF65-F5344CB8AC3E}">
        <p14:creationId xmlns:p14="http://schemas.microsoft.com/office/powerpoint/2010/main" val="10383655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0FBE0526-471A-EDCE-528A-63C02130BDDE}"/>
              </a:ext>
            </a:extLst>
          </p:cNvPr>
          <p:cNvGraphicFramePr>
            <a:graphicFrameLocks noGrp="1"/>
          </p:cNvGraphicFramePr>
          <p:nvPr>
            <p:extLst>
              <p:ext uri="{D42A27DB-BD31-4B8C-83A1-F6EECF244321}">
                <p14:modId xmlns:p14="http://schemas.microsoft.com/office/powerpoint/2010/main" val="2250486019"/>
              </p:ext>
            </p:extLst>
          </p:nvPr>
        </p:nvGraphicFramePr>
        <p:xfrm>
          <a:off x="2032000" y="719666"/>
          <a:ext cx="8652564" cy="6040120"/>
        </p:xfrm>
        <a:graphic>
          <a:graphicData uri="http://schemas.openxmlformats.org/drawingml/2006/table">
            <a:tbl>
              <a:tblPr firstRow="1" bandRow="1">
                <a:tableStyleId>{5C22544A-7EE6-4342-B048-85BDC9FD1C3A}</a:tableStyleId>
              </a:tblPr>
              <a:tblGrid>
                <a:gridCol w="2884188">
                  <a:extLst>
                    <a:ext uri="{9D8B030D-6E8A-4147-A177-3AD203B41FA5}">
                      <a16:colId xmlns:a16="http://schemas.microsoft.com/office/drawing/2014/main" val="1205026527"/>
                    </a:ext>
                  </a:extLst>
                </a:gridCol>
                <a:gridCol w="2884188">
                  <a:extLst>
                    <a:ext uri="{9D8B030D-6E8A-4147-A177-3AD203B41FA5}">
                      <a16:colId xmlns:a16="http://schemas.microsoft.com/office/drawing/2014/main" val="879181611"/>
                    </a:ext>
                  </a:extLst>
                </a:gridCol>
                <a:gridCol w="2884188">
                  <a:extLst>
                    <a:ext uri="{9D8B030D-6E8A-4147-A177-3AD203B41FA5}">
                      <a16:colId xmlns:a16="http://schemas.microsoft.com/office/drawing/2014/main" val="104233673"/>
                    </a:ext>
                  </a:extLst>
                </a:gridCol>
              </a:tblGrid>
              <a:tr h="370840">
                <a:tc>
                  <a:txBody>
                    <a:bodyPr/>
                    <a:lstStyle/>
                    <a:p>
                      <a:r>
                        <a:rPr lang="en-US" dirty="0"/>
                        <a:t>A[</a:t>
                      </a:r>
                      <a:r>
                        <a:rPr lang="en-US" dirty="0" err="1"/>
                        <a:t>i</a:t>
                      </a:r>
                      <a:r>
                        <a:rPr lang="en-US" dirty="0"/>
                        <a:t>][k]</a:t>
                      </a:r>
                    </a:p>
                  </a:txBody>
                  <a:tcPr/>
                </a:tc>
                <a:tc>
                  <a:txBody>
                    <a:bodyPr/>
                    <a:lstStyle/>
                    <a:p>
                      <a:r>
                        <a:rPr lang="en-US" dirty="0"/>
                        <a:t>B[k][j] </a:t>
                      </a:r>
                    </a:p>
                  </a:txBody>
                  <a:tcPr/>
                </a:tc>
                <a:tc>
                  <a:txBody>
                    <a:bodyPr/>
                    <a:lstStyle/>
                    <a:p>
                      <a:r>
                        <a:rPr lang="en-US" dirty="0"/>
                        <a:t>Res[</a:t>
                      </a:r>
                      <a:r>
                        <a:rPr lang="en-US" dirty="0" err="1"/>
                        <a:t>i</a:t>
                      </a:r>
                      <a:r>
                        <a:rPr lang="en-US" dirty="0"/>
                        <a:t>][j]</a:t>
                      </a:r>
                    </a:p>
                  </a:txBody>
                  <a:tcPr/>
                </a:tc>
                <a:extLst>
                  <a:ext uri="{0D108BD9-81ED-4DB2-BD59-A6C34878D82A}">
                    <a16:rowId xmlns:a16="http://schemas.microsoft.com/office/drawing/2014/main" val="225945866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A[0][0]</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B[0][0] </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Res[0][0] = A[0][0]*B[0][0]</a:t>
                      </a:r>
                    </a:p>
                    <a:p>
                      <a:endParaRPr lang="en-US" dirty="0"/>
                    </a:p>
                  </a:txBody>
                  <a:tcPr/>
                </a:tc>
                <a:extLst>
                  <a:ext uri="{0D108BD9-81ED-4DB2-BD59-A6C34878D82A}">
                    <a16:rowId xmlns:a16="http://schemas.microsoft.com/office/drawing/2014/main" val="104659550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A[0][1]</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B[1][0] </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Res[0][0] = A[0][0]*B[0][0]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+A[0][1]*B[1][0]</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a:txBody>
                  <a:tcPr/>
                </a:tc>
                <a:extLst>
                  <a:ext uri="{0D108BD9-81ED-4DB2-BD59-A6C34878D82A}">
                    <a16:rowId xmlns:a16="http://schemas.microsoft.com/office/drawing/2014/main" val="803291879"/>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A[0][2]</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B[2][0] </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Res[0][0] =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A[0][0]*B[0][0]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+A[0][1]*B[1][0] + A[0][2]*B[2][0]</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a:txBody>
                  <a:tcPr/>
                </a:tc>
                <a:extLst>
                  <a:ext uri="{0D108BD9-81ED-4DB2-BD59-A6C34878D82A}">
                    <a16:rowId xmlns:a16="http://schemas.microsoft.com/office/drawing/2014/main" val="13416517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A[0][0]</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B[0][1] </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Res[0][1] = A[0][0]*B[0][1]</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a:txBody>
                  <a:tcPr/>
                </a:tc>
                <a:extLst>
                  <a:ext uri="{0D108BD9-81ED-4DB2-BD59-A6C34878D82A}">
                    <a16:rowId xmlns:a16="http://schemas.microsoft.com/office/drawing/2014/main" val="363122995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A[0][1]</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B[1][1] </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Res[0][1] = A[0][0]*B[0][1]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+A[0][1]*B[1][1]</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a:txBody>
                  <a:tcPr/>
                </a:tc>
                <a:extLst>
                  <a:ext uri="{0D108BD9-81ED-4DB2-BD59-A6C34878D82A}">
                    <a16:rowId xmlns:a16="http://schemas.microsoft.com/office/drawing/2014/main" val="292325482"/>
                  </a:ext>
                </a:extLst>
              </a:tr>
            </a:tbl>
          </a:graphicData>
        </a:graphic>
      </p:graphicFrame>
    </p:spTree>
    <p:extLst>
      <p:ext uri="{BB962C8B-B14F-4D97-AF65-F5344CB8AC3E}">
        <p14:creationId xmlns:p14="http://schemas.microsoft.com/office/powerpoint/2010/main" val="11426570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DA512-47CC-2C37-622E-2C617A7BF67F}"/>
              </a:ext>
            </a:extLst>
          </p:cNvPr>
          <p:cNvSpPr>
            <a:spLocks noGrp="1"/>
          </p:cNvSpPr>
          <p:nvPr>
            <p:ph type="title"/>
          </p:nvPr>
        </p:nvSpPr>
        <p:spPr/>
        <p:txBody>
          <a:bodyPr/>
          <a:lstStyle/>
          <a:p>
            <a:r>
              <a:rPr lang="en-US" dirty="0"/>
              <a:t>Transpose</a:t>
            </a:r>
          </a:p>
        </p:txBody>
      </p:sp>
      <p:pic>
        <p:nvPicPr>
          <p:cNvPr id="5" name="Content Placeholder 4">
            <a:extLst>
              <a:ext uri="{FF2B5EF4-FFF2-40B4-BE49-F238E27FC236}">
                <a16:creationId xmlns:a16="http://schemas.microsoft.com/office/drawing/2014/main" id="{0706AC23-97AF-566F-FAE1-FAEDDDD5C641}"/>
              </a:ext>
            </a:extLst>
          </p:cNvPr>
          <p:cNvPicPr>
            <a:picLocks noGrp="1" noChangeAspect="1"/>
          </p:cNvPicPr>
          <p:nvPr>
            <p:ph idx="1"/>
          </p:nvPr>
        </p:nvPicPr>
        <p:blipFill>
          <a:blip r:embed="rId2"/>
          <a:stretch>
            <a:fillRect/>
          </a:stretch>
        </p:blipFill>
        <p:spPr>
          <a:xfrm>
            <a:off x="6211957" y="1414276"/>
            <a:ext cx="5238952" cy="4658533"/>
          </a:xfrm>
          <a:prstGeom prst="rect">
            <a:avLst/>
          </a:prstGeom>
        </p:spPr>
      </p:pic>
      <p:sp>
        <p:nvSpPr>
          <p:cNvPr id="6" name="TextBox 5">
            <a:extLst>
              <a:ext uri="{FF2B5EF4-FFF2-40B4-BE49-F238E27FC236}">
                <a16:creationId xmlns:a16="http://schemas.microsoft.com/office/drawing/2014/main" id="{CB965556-32FC-FFE9-87C0-08A4BF72986B}"/>
              </a:ext>
            </a:extLst>
          </p:cNvPr>
          <p:cNvSpPr txBox="1"/>
          <p:nvPr/>
        </p:nvSpPr>
        <p:spPr>
          <a:xfrm>
            <a:off x="417443" y="1570383"/>
            <a:ext cx="5562601" cy="1477328"/>
          </a:xfrm>
          <a:prstGeom prst="rect">
            <a:avLst/>
          </a:prstGeom>
          <a:noFill/>
        </p:spPr>
        <p:txBody>
          <a:bodyPr wrap="square" rtlCol="0">
            <a:spAutoFit/>
          </a:bodyPr>
          <a:lstStyle/>
          <a:p>
            <a:r>
              <a:rPr lang="en-US" dirty="0"/>
              <a:t>For transposing we again use the two nested for displaying the transpose of both matrices the method to display the transpose is to simply change the order of matrix a[</a:t>
            </a:r>
            <a:r>
              <a:rPr lang="en-US" dirty="0" err="1"/>
              <a:t>i</a:t>
            </a:r>
            <a:r>
              <a:rPr lang="en-US" dirty="0"/>
              <a:t>][j] and b[</a:t>
            </a:r>
            <a:r>
              <a:rPr lang="en-US" dirty="0" err="1"/>
              <a:t>i</a:t>
            </a:r>
            <a:r>
              <a:rPr lang="en-US" dirty="0"/>
              <a:t>][j] to a[j][</a:t>
            </a:r>
            <a:r>
              <a:rPr lang="en-US" dirty="0" err="1"/>
              <a:t>i</a:t>
            </a:r>
            <a:r>
              <a:rPr lang="en-US" dirty="0"/>
              <a:t>] and b[j][</a:t>
            </a:r>
            <a:r>
              <a:rPr lang="en-US" dirty="0" err="1"/>
              <a:t>i</a:t>
            </a:r>
            <a:r>
              <a:rPr lang="en-US" dirty="0"/>
              <a:t>] .This will </a:t>
            </a:r>
            <a:r>
              <a:rPr lang="en-US" dirty="0" err="1"/>
              <a:t>swapp</a:t>
            </a:r>
            <a:endParaRPr lang="en-US" dirty="0"/>
          </a:p>
          <a:p>
            <a:r>
              <a:rPr lang="en-US" dirty="0"/>
              <a:t>The elements from row to columns and vice versa </a:t>
            </a:r>
          </a:p>
        </p:txBody>
      </p:sp>
      <p:graphicFrame>
        <p:nvGraphicFramePr>
          <p:cNvPr id="7" name="Table 6">
            <a:extLst>
              <a:ext uri="{FF2B5EF4-FFF2-40B4-BE49-F238E27FC236}">
                <a16:creationId xmlns:a16="http://schemas.microsoft.com/office/drawing/2014/main" id="{F87C164A-60A7-B038-4021-FEAEEA04393D}"/>
              </a:ext>
            </a:extLst>
          </p:cNvPr>
          <p:cNvGraphicFramePr>
            <a:graphicFrameLocks noGrp="1"/>
          </p:cNvGraphicFramePr>
          <p:nvPr>
            <p:extLst>
              <p:ext uri="{D42A27DB-BD31-4B8C-83A1-F6EECF244321}">
                <p14:modId xmlns:p14="http://schemas.microsoft.com/office/powerpoint/2010/main" val="3931811266"/>
              </p:ext>
            </p:extLst>
          </p:nvPr>
        </p:nvGraphicFramePr>
        <p:xfrm>
          <a:off x="501374" y="3047711"/>
          <a:ext cx="5153992" cy="2704915"/>
        </p:xfrm>
        <a:graphic>
          <a:graphicData uri="http://schemas.openxmlformats.org/drawingml/2006/table">
            <a:tbl>
              <a:tblPr firstRow="1" bandRow="1">
                <a:tableStyleId>{5C22544A-7EE6-4342-B048-85BDC9FD1C3A}</a:tableStyleId>
              </a:tblPr>
              <a:tblGrid>
                <a:gridCol w="1288498">
                  <a:extLst>
                    <a:ext uri="{9D8B030D-6E8A-4147-A177-3AD203B41FA5}">
                      <a16:colId xmlns:a16="http://schemas.microsoft.com/office/drawing/2014/main" val="1051872597"/>
                    </a:ext>
                  </a:extLst>
                </a:gridCol>
                <a:gridCol w="1288498">
                  <a:extLst>
                    <a:ext uri="{9D8B030D-6E8A-4147-A177-3AD203B41FA5}">
                      <a16:colId xmlns:a16="http://schemas.microsoft.com/office/drawing/2014/main" val="606284436"/>
                    </a:ext>
                  </a:extLst>
                </a:gridCol>
                <a:gridCol w="1288498">
                  <a:extLst>
                    <a:ext uri="{9D8B030D-6E8A-4147-A177-3AD203B41FA5}">
                      <a16:colId xmlns:a16="http://schemas.microsoft.com/office/drawing/2014/main" val="2966954347"/>
                    </a:ext>
                  </a:extLst>
                </a:gridCol>
                <a:gridCol w="1288498">
                  <a:extLst>
                    <a:ext uri="{9D8B030D-6E8A-4147-A177-3AD203B41FA5}">
                      <a16:colId xmlns:a16="http://schemas.microsoft.com/office/drawing/2014/main" val="1999359806"/>
                    </a:ext>
                  </a:extLst>
                </a:gridCol>
              </a:tblGrid>
              <a:tr h="540983">
                <a:tc>
                  <a:txBody>
                    <a:bodyPr/>
                    <a:lstStyle/>
                    <a:p>
                      <a:r>
                        <a:rPr lang="en-US" dirty="0"/>
                        <a:t>A[</a:t>
                      </a:r>
                      <a:r>
                        <a:rPr lang="en-US" dirty="0" err="1"/>
                        <a:t>i</a:t>
                      </a:r>
                      <a:r>
                        <a:rPr lang="en-US" dirty="0"/>
                        <a:t>][j]</a:t>
                      </a:r>
                    </a:p>
                  </a:txBody>
                  <a:tcPr/>
                </a:tc>
                <a:tc>
                  <a:txBody>
                    <a:bodyPr/>
                    <a:lstStyle/>
                    <a:p>
                      <a:r>
                        <a:rPr lang="en-US" dirty="0"/>
                        <a:t>B[</a:t>
                      </a:r>
                      <a:r>
                        <a:rPr lang="en-US" dirty="0" err="1"/>
                        <a:t>i</a:t>
                      </a:r>
                      <a:r>
                        <a:rPr lang="en-US" dirty="0"/>
                        <a:t>][j]</a:t>
                      </a:r>
                    </a:p>
                  </a:txBody>
                  <a:tcPr/>
                </a:tc>
                <a:tc>
                  <a:txBody>
                    <a:bodyPr/>
                    <a:lstStyle/>
                    <a:p>
                      <a:r>
                        <a:rPr lang="en-US" dirty="0"/>
                        <a:t>Output 1</a:t>
                      </a:r>
                    </a:p>
                  </a:txBody>
                  <a:tcPr/>
                </a:tc>
                <a:tc>
                  <a:txBody>
                    <a:bodyPr/>
                    <a:lstStyle/>
                    <a:p>
                      <a:r>
                        <a:rPr lang="en-US" dirty="0"/>
                        <a:t>Output 2</a:t>
                      </a:r>
                    </a:p>
                  </a:txBody>
                  <a:tcPr/>
                </a:tc>
                <a:extLst>
                  <a:ext uri="{0D108BD9-81ED-4DB2-BD59-A6C34878D82A}">
                    <a16:rowId xmlns:a16="http://schemas.microsoft.com/office/drawing/2014/main" val="955060173"/>
                  </a:ext>
                </a:extLst>
              </a:tr>
              <a:tr h="540983">
                <a:tc>
                  <a:txBody>
                    <a:bodyPr/>
                    <a:lstStyle/>
                    <a:p>
                      <a:r>
                        <a:rPr lang="en-US" dirty="0"/>
                        <a:t>A[0][0]</a:t>
                      </a:r>
                    </a:p>
                  </a:txBody>
                  <a:tcPr/>
                </a:tc>
                <a:tc>
                  <a:txBody>
                    <a:bodyPr/>
                    <a:lstStyle/>
                    <a:p>
                      <a:r>
                        <a:rPr lang="en-US" dirty="0"/>
                        <a:t>B[0][0]</a:t>
                      </a:r>
                    </a:p>
                  </a:txBody>
                  <a:tcPr/>
                </a:tc>
                <a:tc>
                  <a:txBody>
                    <a:bodyPr/>
                    <a:lstStyle/>
                    <a:p>
                      <a:r>
                        <a:rPr lang="en-US" dirty="0"/>
                        <a:t>A[0][0]</a:t>
                      </a:r>
                    </a:p>
                  </a:txBody>
                  <a:tcPr/>
                </a:tc>
                <a:tc>
                  <a:txBody>
                    <a:bodyPr/>
                    <a:lstStyle/>
                    <a:p>
                      <a:r>
                        <a:rPr lang="en-US" dirty="0"/>
                        <a:t>B[0][0]</a:t>
                      </a:r>
                    </a:p>
                  </a:txBody>
                  <a:tcPr/>
                </a:tc>
                <a:extLst>
                  <a:ext uri="{0D108BD9-81ED-4DB2-BD59-A6C34878D82A}">
                    <a16:rowId xmlns:a16="http://schemas.microsoft.com/office/drawing/2014/main" val="1082931885"/>
                  </a:ext>
                </a:extLst>
              </a:tr>
              <a:tr h="540983">
                <a:tc>
                  <a:txBody>
                    <a:bodyPr/>
                    <a:lstStyle/>
                    <a:p>
                      <a:r>
                        <a:rPr lang="en-US" dirty="0"/>
                        <a:t>A[0][1]</a:t>
                      </a:r>
                    </a:p>
                  </a:txBody>
                  <a:tcPr/>
                </a:tc>
                <a:tc>
                  <a:txBody>
                    <a:bodyPr/>
                    <a:lstStyle/>
                    <a:p>
                      <a:r>
                        <a:rPr lang="en-US" dirty="0"/>
                        <a:t>B[0][1]</a:t>
                      </a:r>
                    </a:p>
                  </a:txBody>
                  <a:tcPr/>
                </a:tc>
                <a:tc>
                  <a:txBody>
                    <a:bodyPr/>
                    <a:lstStyle/>
                    <a:p>
                      <a:r>
                        <a:rPr lang="en-US" dirty="0"/>
                        <a:t>A[1][0]</a:t>
                      </a:r>
                    </a:p>
                  </a:txBody>
                  <a:tcPr/>
                </a:tc>
                <a:tc>
                  <a:txBody>
                    <a:bodyPr/>
                    <a:lstStyle/>
                    <a:p>
                      <a:r>
                        <a:rPr lang="en-US" dirty="0"/>
                        <a:t>B[1][0]</a:t>
                      </a:r>
                    </a:p>
                  </a:txBody>
                  <a:tcPr/>
                </a:tc>
                <a:extLst>
                  <a:ext uri="{0D108BD9-81ED-4DB2-BD59-A6C34878D82A}">
                    <a16:rowId xmlns:a16="http://schemas.microsoft.com/office/drawing/2014/main" val="3190082330"/>
                  </a:ext>
                </a:extLst>
              </a:tr>
              <a:tr h="540983">
                <a:tc>
                  <a:txBody>
                    <a:bodyPr/>
                    <a:lstStyle/>
                    <a:p>
                      <a:r>
                        <a:rPr lang="en-US" dirty="0"/>
                        <a:t>A[0][2]</a:t>
                      </a:r>
                    </a:p>
                  </a:txBody>
                  <a:tcPr/>
                </a:tc>
                <a:tc>
                  <a:txBody>
                    <a:bodyPr/>
                    <a:lstStyle/>
                    <a:p>
                      <a:r>
                        <a:rPr lang="en-US" dirty="0"/>
                        <a:t>B[0][2]</a:t>
                      </a:r>
                    </a:p>
                  </a:txBody>
                  <a:tcPr/>
                </a:tc>
                <a:tc>
                  <a:txBody>
                    <a:bodyPr/>
                    <a:lstStyle/>
                    <a:p>
                      <a:r>
                        <a:rPr lang="en-US" dirty="0"/>
                        <a:t>A[2][0]</a:t>
                      </a:r>
                    </a:p>
                  </a:txBody>
                  <a:tcPr/>
                </a:tc>
                <a:tc>
                  <a:txBody>
                    <a:bodyPr/>
                    <a:lstStyle/>
                    <a:p>
                      <a:r>
                        <a:rPr lang="en-US" dirty="0"/>
                        <a:t>B[2][0]</a:t>
                      </a:r>
                    </a:p>
                  </a:txBody>
                  <a:tcPr/>
                </a:tc>
                <a:extLst>
                  <a:ext uri="{0D108BD9-81ED-4DB2-BD59-A6C34878D82A}">
                    <a16:rowId xmlns:a16="http://schemas.microsoft.com/office/drawing/2014/main" val="1148137259"/>
                  </a:ext>
                </a:extLst>
              </a:tr>
              <a:tr h="540983">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485524773"/>
                  </a:ext>
                </a:extLst>
              </a:tr>
            </a:tbl>
          </a:graphicData>
        </a:graphic>
      </p:graphicFrame>
    </p:spTree>
    <p:extLst>
      <p:ext uri="{BB962C8B-B14F-4D97-AF65-F5344CB8AC3E}">
        <p14:creationId xmlns:p14="http://schemas.microsoft.com/office/powerpoint/2010/main" val="8136812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3E788C9-14E3-B793-3E2A-5D9081C46272}"/>
              </a:ext>
            </a:extLst>
          </p:cNvPr>
          <p:cNvSpPr txBox="1"/>
          <p:nvPr/>
        </p:nvSpPr>
        <p:spPr>
          <a:xfrm>
            <a:off x="357809" y="248478"/>
            <a:ext cx="10744200" cy="584775"/>
          </a:xfrm>
          <a:prstGeom prst="rect">
            <a:avLst/>
          </a:prstGeom>
          <a:noFill/>
        </p:spPr>
        <p:txBody>
          <a:bodyPr wrap="square" rtlCol="0">
            <a:spAutoFit/>
          </a:bodyPr>
          <a:lstStyle/>
          <a:p>
            <a:r>
              <a:rPr lang="en-US" sz="3200" dirty="0"/>
              <a:t>Determinant (2x2)</a:t>
            </a:r>
          </a:p>
        </p:txBody>
      </p:sp>
      <p:pic>
        <p:nvPicPr>
          <p:cNvPr id="4" name="Picture 3">
            <a:extLst>
              <a:ext uri="{FF2B5EF4-FFF2-40B4-BE49-F238E27FC236}">
                <a16:creationId xmlns:a16="http://schemas.microsoft.com/office/drawing/2014/main" id="{B5D7D162-63B4-82D8-8805-0DB53A7F20B3}"/>
              </a:ext>
            </a:extLst>
          </p:cNvPr>
          <p:cNvPicPr>
            <a:picLocks noChangeAspect="1"/>
          </p:cNvPicPr>
          <p:nvPr/>
        </p:nvPicPr>
        <p:blipFill>
          <a:blip r:embed="rId2"/>
          <a:stretch>
            <a:fillRect/>
          </a:stretch>
        </p:blipFill>
        <p:spPr>
          <a:xfrm>
            <a:off x="5729909" y="833253"/>
            <a:ext cx="6349694" cy="2406156"/>
          </a:xfrm>
          <a:prstGeom prst="rect">
            <a:avLst/>
          </a:prstGeom>
        </p:spPr>
      </p:pic>
      <p:sp>
        <p:nvSpPr>
          <p:cNvPr id="5" name="TextBox 4">
            <a:extLst>
              <a:ext uri="{FF2B5EF4-FFF2-40B4-BE49-F238E27FC236}">
                <a16:creationId xmlns:a16="http://schemas.microsoft.com/office/drawing/2014/main" id="{731F378A-2B91-1983-25A5-CF4C4C151D5C}"/>
              </a:ext>
            </a:extLst>
          </p:cNvPr>
          <p:cNvSpPr txBox="1"/>
          <p:nvPr/>
        </p:nvSpPr>
        <p:spPr>
          <a:xfrm>
            <a:off x="228599" y="1574666"/>
            <a:ext cx="5237922" cy="923330"/>
          </a:xfrm>
          <a:prstGeom prst="rect">
            <a:avLst/>
          </a:prstGeom>
          <a:noFill/>
        </p:spPr>
        <p:txBody>
          <a:bodyPr wrap="square" rtlCol="0">
            <a:spAutoFit/>
          </a:bodyPr>
          <a:lstStyle/>
          <a:p>
            <a:r>
              <a:rPr lang="en-US" dirty="0"/>
              <a:t>For finding determinant we use an if else statement if first if n == 2 then For 2 by 2 matrix we simply multiply the elements from 2 diagonals and subtract them</a:t>
            </a:r>
          </a:p>
        </p:txBody>
      </p:sp>
      <p:sp>
        <p:nvSpPr>
          <p:cNvPr id="6" name="Double Bracket 5">
            <a:extLst>
              <a:ext uri="{FF2B5EF4-FFF2-40B4-BE49-F238E27FC236}">
                <a16:creationId xmlns:a16="http://schemas.microsoft.com/office/drawing/2014/main" id="{672A824B-9F5B-55A5-1B31-219AB3CD0762}"/>
              </a:ext>
            </a:extLst>
          </p:cNvPr>
          <p:cNvSpPr/>
          <p:nvPr/>
        </p:nvSpPr>
        <p:spPr>
          <a:xfrm>
            <a:off x="827433" y="3239409"/>
            <a:ext cx="3190461" cy="2126974"/>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TextBox 6">
            <a:extLst>
              <a:ext uri="{FF2B5EF4-FFF2-40B4-BE49-F238E27FC236}">
                <a16:creationId xmlns:a16="http://schemas.microsoft.com/office/drawing/2014/main" id="{AD4557E6-DC4E-9174-D469-BEBF22CE4C99}"/>
              </a:ext>
            </a:extLst>
          </p:cNvPr>
          <p:cNvSpPr txBox="1"/>
          <p:nvPr/>
        </p:nvSpPr>
        <p:spPr>
          <a:xfrm>
            <a:off x="1172645" y="3369680"/>
            <a:ext cx="2435087" cy="1815882"/>
          </a:xfrm>
          <a:prstGeom prst="rect">
            <a:avLst/>
          </a:prstGeom>
          <a:noFill/>
        </p:spPr>
        <p:txBody>
          <a:bodyPr wrap="square" rtlCol="0">
            <a:spAutoFit/>
          </a:bodyPr>
          <a:lstStyle/>
          <a:p>
            <a:pPr marL="514350" indent="-514350">
              <a:buAutoNum type="arabicPlain" startAt="2"/>
            </a:pPr>
            <a:r>
              <a:rPr lang="en-US" sz="2800" dirty="0"/>
              <a:t>                 4</a:t>
            </a:r>
          </a:p>
          <a:p>
            <a:pPr marL="514350" indent="-514350">
              <a:buAutoNum type="arabicPlain" startAt="2"/>
            </a:pPr>
            <a:endParaRPr lang="en-US" sz="2800" dirty="0"/>
          </a:p>
          <a:p>
            <a:pPr marL="514350" indent="-514350">
              <a:buAutoNum type="arabicPlain" startAt="2"/>
            </a:pPr>
            <a:endParaRPr lang="en-US" sz="2800" dirty="0"/>
          </a:p>
          <a:p>
            <a:r>
              <a:rPr lang="en-US" sz="2800" dirty="0"/>
              <a:t>7                      8</a:t>
            </a:r>
          </a:p>
        </p:txBody>
      </p:sp>
      <mc:AlternateContent xmlns:mc="http://schemas.openxmlformats.org/markup-compatibility/2006">
        <mc:Choice xmlns:p14="http://schemas.microsoft.com/office/powerpoint/2010/main" Requires="p14">
          <p:contentPart p14:bwMode="auto" r:id="rId3">
            <p14:nvContentPartPr>
              <p14:cNvPr id="9" name="Ink 8">
                <a:extLst>
                  <a:ext uri="{FF2B5EF4-FFF2-40B4-BE49-F238E27FC236}">
                    <a16:creationId xmlns:a16="http://schemas.microsoft.com/office/drawing/2014/main" id="{AF0C7C2E-2714-9683-2E8C-DED63D82175E}"/>
                  </a:ext>
                </a:extLst>
              </p14:cNvPr>
              <p14:cNvContentPartPr/>
              <p14:nvPr/>
            </p14:nvContentPartPr>
            <p14:xfrm>
              <a:off x="1525231" y="3750213"/>
              <a:ext cx="1601640" cy="993600"/>
            </p14:xfrm>
          </p:contentPart>
        </mc:Choice>
        <mc:Fallback>
          <p:pic>
            <p:nvPicPr>
              <p:cNvPr id="9" name="Ink 8">
                <a:extLst>
                  <a:ext uri="{FF2B5EF4-FFF2-40B4-BE49-F238E27FC236}">
                    <a16:creationId xmlns:a16="http://schemas.microsoft.com/office/drawing/2014/main" id="{AF0C7C2E-2714-9683-2E8C-DED63D82175E}"/>
                  </a:ext>
                </a:extLst>
              </p:cNvPr>
              <p:cNvPicPr/>
              <p:nvPr/>
            </p:nvPicPr>
            <p:blipFill>
              <a:blip r:embed="rId4"/>
              <a:stretch>
                <a:fillRect/>
              </a:stretch>
            </p:blipFill>
            <p:spPr>
              <a:xfrm>
                <a:off x="1519111" y="3744093"/>
                <a:ext cx="1613880" cy="100584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10" name="Ink 9">
                <a:extLst>
                  <a:ext uri="{FF2B5EF4-FFF2-40B4-BE49-F238E27FC236}">
                    <a16:creationId xmlns:a16="http://schemas.microsoft.com/office/drawing/2014/main" id="{0874BCC8-F959-AA54-2CBA-0528D8567959}"/>
                  </a:ext>
                </a:extLst>
              </p14:cNvPr>
              <p14:cNvContentPartPr/>
              <p14:nvPr/>
            </p14:nvContentPartPr>
            <p14:xfrm>
              <a:off x="1590211" y="3773229"/>
              <a:ext cx="1471680" cy="1137240"/>
            </p14:xfrm>
          </p:contentPart>
        </mc:Choice>
        <mc:Fallback>
          <p:pic>
            <p:nvPicPr>
              <p:cNvPr id="10" name="Ink 9">
                <a:extLst>
                  <a:ext uri="{FF2B5EF4-FFF2-40B4-BE49-F238E27FC236}">
                    <a16:creationId xmlns:a16="http://schemas.microsoft.com/office/drawing/2014/main" id="{0874BCC8-F959-AA54-2CBA-0528D8567959}"/>
                  </a:ext>
                </a:extLst>
              </p:cNvPr>
              <p:cNvPicPr/>
              <p:nvPr/>
            </p:nvPicPr>
            <p:blipFill>
              <a:blip r:embed="rId6"/>
              <a:stretch>
                <a:fillRect/>
              </a:stretch>
            </p:blipFill>
            <p:spPr>
              <a:xfrm>
                <a:off x="1584091" y="3767109"/>
                <a:ext cx="1483920" cy="1149480"/>
              </a:xfrm>
              <a:prstGeom prst="rect">
                <a:avLst/>
              </a:prstGeom>
            </p:spPr>
          </p:pic>
        </mc:Fallback>
      </mc:AlternateContent>
      <p:sp>
        <p:nvSpPr>
          <p:cNvPr id="20" name="TextBox 19">
            <a:extLst>
              <a:ext uri="{FF2B5EF4-FFF2-40B4-BE49-F238E27FC236}">
                <a16:creationId xmlns:a16="http://schemas.microsoft.com/office/drawing/2014/main" id="{59F79858-CFD0-9197-EFA9-5B4169C0E31E}"/>
              </a:ext>
            </a:extLst>
          </p:cNvPr>
          <p:cNvSpPr txBox="1"/>
          <p:nvPr/>
        </p:nvSpPr>
        <p:spPr>
          <a:xfrm>
            <a:off x="496957" y="5476485"/>
            <a:ext cx="10465904" cy="954107"/>
          </a:xfrm>
          <a:prstGeom prst="rect">
            <a:avLst/>
          </a:prstGeom>
          <a:noFill/>
        </p:spPr>
        <p:txBody>
          <a:bodyPr wrap="square" rtlCol="0">
            <a:spAutoFit/>
          </a:bodyPr>
          <a:lstStyle/>
          <a:p>
            <a:r>
              <a:rPr lang="en-US" sz="2800" dirty="0"/>
              <a:t>In this case a[0][0] = 2, a[1][1] = 8 , a[0][1] = 4 and a[1][0] = 7</a:t>
            </a:r>
          </a:p>
          <a:p>
            <a:r>
              <a:rPr lang="en-US" sz="2800" dirty="0"/>
              <a:t>So det = a[0][0]*a[1][1] – a[0][1]*a[1][0] = 16-28 = -12</a:t>
            </a:r>
          </a:p>
        </p:txBody>
      </p:sp>
    </p:spTree>
    <p:extLst>
      <p:ext uri="{BB962C8B-B14F-4D97-AF65-F5344CB8AC3E}">
        <p14:creationId xmlns:p14="http://schemas.microsoft.com/office/powerpoint/2010/main" val="4274099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ED8C3-7485-F24F-57B4-40C3783E3361}"/>
              </a:ext>
            </a:extLst>
          </p:cNvPr>
          <p:cNvSpPr>
            <a:spLocks noGrp="1"/>
          </p:cNvSpPr>
          <p:nvPr>
            <p:ph type="title"/>
          </p:nvPr>
        </p:nvSpPr>
        <p:spPr>
          <a:xfrm>
            <a:off x="838200" y="365126"/>
            <a:ext cx="10515600" cy="618848"/>
          </a:xfrm>
        </p:spPr>
        <p:txBody>
          <a:bodyPr>
            <a:normAutofit fontScale="90000"/>
          </a:bodyPr>
          <a:lstStyle/>
          <a:p>
            <a:r>
              <a:rPr lang="en-US" dirty="0"/>
              <a:t>Determinant (3x3)</a:t>
            </a:r>
          </a:p>
        </p:txBody>
      </p:sp>
      <p:pic>
        <p:nvPicPr>
          <p:cNvPr id="5" name="Content Placeholder 4">
            <a:extLst>
              <a:ext uri="{FF2B5EF4-FFF2-40B4-BE49-F238E27FC236}">
                <a16:creationId xmlns:a16="http://schemas.microsoft.com/office/drawing/2014/main" id="{451AD1C1-2F9C-13B6-60E8-A855CD5A8C3F}"/>
              </a:ext>
            </a:extLst>
          </p:cNvPr>
          <p:cNvPicPr>
            <a:picLocks noGrp="1" noChangeAspect="1"/>
          </p:cNvPicPr>
          <p:nvPr>
            <p:ph idx="1"/>
          </p:nvPr>
        </p:nvPicPr>
        <p:blipFill>
          <a:blip r:embed="rId2"/>
          <a:stretch>
            <a:fillRect/>
          </a:stretch>
        </p:blipFill>
        <p:spPr>
          <a:xfrm>
            <a:off x="5546035" y="983974"/>
            <a:ext cx="6437475" cy="4721087"/>
          </a:xfrm>
          <a:prstGeom prst="rect">
            <a:avLst/>
          </a:prstGeom>
        </p:spPr>
      </p:pic>
      <p:sp>
        <p:nvSpPr>
          <p:cNvPr id="7" name="TextBox 6">
            <a:extLst>
              <a:ext uri="{FF2B5EF4-FFF2-40B4-BE49-F238E27FC236}">
                <a16:creationId xmlns:a16="http://schemas.microsoft.com/office/drawing/2014/main" id="{08B2C9B6-420C-FA28-F257-CA472FBEBC40}"/>
              </a:ext>
            </a:extLst>
          </p:cNvPr>
          <p:cNvSpPr txBox="1"/>
          <p:nvPr/>
        </p:nvSpPr>
        <p:spPr>
          <a:xfrm>
            <a:off x="337930" y="1133061"/>
            <a:ext cx="5059018" cy="1754326"/>
          </a:xfrm>
          <a:prstGeom prst="rect">
            <a:avLst/>
          </a:prstGeom>
          <a:noFill/>
        </p:spPr>
        <p:txBody>
          <a:bodyPr wrap="square" rtlCol="0">
            <a:spAutoFit/>
          </a:bodyPr>
          <a:lstStyle/>
          <a:p>
            <a:r>
              <a:rPr lang="en-US" dirty="0"/>
              <a:t>If n is not 2 then it will probably be 3 so we calculate the 3x3 determinant in else statement. For 3x3 determinant we chose a number ‘a’ then find 2x2 matrix of only those elements which are not in the same row or column as ‘a’ and then we multiply the determinant by ‘a’</a:t>
            </a:r>
          </a:p>
        </p:txBody>
      </p:sp>
      <p:sp>
        <p:nvSpPr>
          <p:cNvPr id="8" name="Double Bracket 7">
            <a:extLst>
              <a:ext uri="{FF2B5EF4-FFF2-40B4-BE49-F238E27FC236}">
                <a16:creationId xmlns:a16="http://schemas.microsoft.com/office/drawing/2014/main" id="{A1E11952-05D3-8362-FBAF-D82C497E66C7}"/>
              </a:ext>
            </a:extLst>
          </p:cNvPr>
          <p:cNvSpPr/>
          <p:nvPr/>
        </p:nvSpPr>
        <p:spPr>
          <a:xfrm>
            <a:off x="765313" y="3041374"/>
            <a:ext cx="4094922" cy="2782956"/>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TextBox 8">
            <a:extLst>
              <a:ext uri="{FF2B5EF4-FFF2-40B4-BE49-F238E27FC236}">
                <a16:creationId xmlns:a16="http://schemas.microsoft.com/office/drawing/2014/main" id="{05F81115-0F71-A272-ED56-3811E7C49C46}"/>
              </a:ext>
            </a:extLst>
          </p:cNvPr>
          <p:cNvSpPr txBox="1"/>
          <p:nvPr/>
        </p:nvSpPr>
        <p:spPr>
          <a:xfrm>
            <a:off x="1212574" y="3349486"/>
            <a:ext cx="3200400" cy="2677656"/>
          </a:xfrm>
          <a:prstGeom prst="rect">
            <a:avLst/>
          </a:prstGeom>
          <a:noFill/>
        </p:spPr>
        <p:txBody>
          <a:bodyPr wrap="square" rtlCol="0">
            <a:spAutoFit/>
          </a:bodyPr>
          <a:lstStyle/>
          <a:p>
            <a:pPr marL="514350" indent="-514350">
              <a:buAutoNum type="arabicPlain" startAt="3"/>
            </a:pPr>
            <a:r>
              <a:rPr lang="en-US" sz="2800" dirty="0"/>
              <a:t>          4               6</a:t>
            </a:r>
          </a:p>
          <a:p>
            <a:pPr marL="514350" indent="-514350">
              <a:buAutoNum type="arabicPlain" startAt="3"/>
            </a:pPr>
            <a:endParaRPr lang="en-US" sz="2800" dirty="0"/>
          </a:p>
          <a:p>
            <a:pPr marL="514350" indent="-514350">
              <a:buAutoNum type="arabicPlain" startAt="3"/>
            </a:pPr>
            <a:r>
              <a:rPr lang="en-US" sz="2800" dirty="0"/>
              <a:t>          5              7</a:t>
            </a:r>
          </a:p>
          <a:p>
            <a:pPr marL="514350" indent="-514350">
              <a:buAutoNum type="arabicPlain" startAt="3"/>
            </a:pPr>
            <a:endParaRPr lang="en-US" sz="2800" dirty="0"/>
          </a:p>
          <a:p>
            <a:pPr marL="514350" indent="-514350">
              <a:buAutoNum type="arabicPlain" startAt="3"/>
            </a:pPr>
            <a:r>
              <a:rPr lang="en-US" sz="2800" dirty="0"/>
              <a:t>           3            1</a:t>
            </a:r>
          </a:p>
          <a:p>
            <a:endParaRPr lang="en-US" sz="2800" dirty="0"/>
          </a:p>
        </p:txBody>
      </p:sp>
      <mc:AlternateContent xmlns:mc="http://schemas.openxmlformats.org/markup-compatibility/2006">
        <mc:Choice xmlns:p14="http://schemas.microsoft.com/office/powerpoint/2010/main" Requires="p14">
          <p:contentPart p14:bwMode="auto" r:id="rId3">
            <p14:nvContentPartPr>
              <p14:cNvPr id="11" name="Ink 10">
                <a:extLst>
                  <a:ext uri="{FF2B5EF4-FFF2-40B4-BE49-F238E27FC236}">
                    <a16:creationId xmlns:a16="http://schemas.microsoft.com/office/drawing/2014/main" id="{5D11F977-2821-12A9-EE80-FF01D1FEE737}"/>
                  </a:ext>
                </a:extLst>
              </p14:cNvPr>
              <p14:cNvContentPartPr/>
              <p14:nvPr/>
            </p14:nvContentPartPr>
            <p14:xfrm>
              <a:off x="983645" y="4005376"/>
              <a:ext cx="3715920" cy="129960"/>
            </p14:xfrm>
          </p:contentPart>
        </mc:Choice>
        <mc:Fallback>
          <p:pic>
            <p:nvPicPr>
              <p:cNvPr id="11" name="Ink 10">
                <a:extLst>
                  <a:ext uri="{FF2B5EF4-FFF2-40B4-BE49-F238E27FC236}">
                    <a16:creationId xmlns:a16="http://schemas.microsoft.com/office/drawing/2014/main" id="{5D11F977-2821-12A9-EE80-FF01D1FEE737}"/>
                  </a:ext>
                </a:extLst>
              </p:cNvPr>
              <p:cNvPicPr/>
              <p:nvPr/>
            </p:nvPicPr>
            <p:blipFill>
              <a:blip r:embed="rId4"/>
              <a:stretch>
                <a:fillRect/>
              </a:stretch>
            </p:blipFill>
            <p:spPr>
              <a:xfrm>
                <a:off x="977525" y="3999256"/>
                <a:ext cx="3728160" cy="1422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12" name="Ink 11">
                <a:extLst>
                  <a:ext uri="{FF2B5EF4-FFF2-40B4-BE49-F238E27FC236}">
                    <a16:creationId xmlns:a16="http://schemas.microsoft.com/office/drawing/2014/main" id="{BAF12E38-A714-1761-E19E-8D7E693ED289}"/>
                  </a:ext>
                </a:extLst>
              </p14:cNvPr>
              <p14:cNvContentPartPr/>
              <p14:nvPr/>
            </p14:nvContentPartPr>
            <p14:xfrm>
              <a:off x="2951765" y="4532056"/>
              <a:ext cx="829080" cy="647640"/>
            </p14:xfrm>
          </p:contentPart>
        </mc:Choice>
        <mc:Fallback>
          <p:pic>
            <p:nvPicPr>
              <p:cNvPr id="12" name="Ink 11">
                <a:extLst>
                  <a:ext uri="{FF2B5EF4-FFF2-40B4-BE49-F238E27FC236}">
                    <a16:creationId xmlns:a16="http://schemas.microsoft.com/office/drawing/2014/main" id="{BAF12E38-A714-1761-E19E-8D7E693ED289}"/>
                  </a:ext>
                </a:extLst>
              </p:cNvPr>
              <p:cNvPicPr/>
              <p:nvPr/>
            </p:nvPicPr>
            <p:blipFill>
              <a:blip r:embed="rId6"/>
              <a:stretch>
                <a:fillRect/>
              </a:stretch>
            </p:blipFill>
            <p:spPr>
              <a:xfrm>
                <a:off x="2945645" y="4525936"/>
                <a:ext cx="841320" cy="65988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14" name="Ink 13">
                <a:extLst>
                  <a:ext uri="{FF2B5EF4-FFF2-40B4-BE49-F238E27FC236}">
                    <a16:creationId xmlns:a16="http://schemas.microsoft.com/office/drawing/2014/main" id="{05D3FEE0-0CD8-B53F-E56C-98654E1B7876}"/>
                  </a:ext>
                </a:extLst>
              </p14:cNvPr>
              <p14:cNvContentPartPr/>
              <p14:nvPr/>
            </p14:nvContentPartPr>
            <p14:xfrm>
              <a:off x="3021245" y="4512256"/>
              <a:ext cx="785520" cy="686160"/>
            </p14:xfrm>
          </p:contentPart>
        </mc:Choice>
        <mc:Fallback>
          <p:pic>
            <p:nvPicPr>
              <p:cNvPr id="14" name="Ink 13">
                <a:extLst>
                  <a:ext uri="{FF2B5EF4-FFF2-40B4-BE49-F238E27FC236}">
                    <a16:creationId xmlns:a16="http://schemas.microsoft.com/office/drawing/2014/main" id="{05D3FEE0-0CD8-B53F-E56C-98654E1B7876}"/>
                  </a:ext>
                </a:extLst>
              </p:cNvPr>
              <p:cNvPicPr/>
              <p:nvPr/>
            </p:nvPicPr>
            <p:blipFill>
              <a:blip r:embed="rId8"/>
              <a:stretch>
                <a:fillRect/>
              </a:stretch>
            </p:blipFill>
            <p:spPr>
              <a:xfrm>
                <a:off x="3015125" y="4506136"/>
                <a:ext cx="797760" cy="69840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16" name="Ink 15">
                <a:extLst>
                  <a:ext uri="{FF2B5EF4-FFF2-40B4-BE49-F238E27FC236}">
                    <a16:creationId xmlns:a16="http://schemas.microsoft.com/office/drawing/2014/main" id="{F2BEFCBB-FA2C-9FDC-6EB0-78148084379D}"/>
                  </a:ext>
                </a:extLst>
              </p14:cNvPr>
              <p14:cNvContentPartPr/>
              <p14:nvPr/>
            </p14:nvContentPartPr>
            <p14:xfrm>
              <a:off x="1848365" y="3389056"/>
              <a:ext cx="79920" cy="2187000"/>
            </p14:xfrm>
          </p:contentPart>
        </mc:Choice>
        <mc:Fallback>
          <p:pic>
            <p:nvPicPr>
              <p:cNvPr id="16" name="Ink 15">
                <a:extLst>
                  <a:ext uri="{FF2B5EF4-FFF2-40B4-BE49-F238E27FC236}">
                    <a16:creationId xmlns:a16="http://schemas.microsoft.com/office/drawing/2014/main" id="{F2BEFCBB-FA2C-9FDC-6EB0-78148084379D}"/>
                  </a:ext>
                </a:extLst>
              </p:cNvPr>
              <p:cNvPicPr/>
              <p:nvPr/>
            </p:nvPicPr>
            <p:blipFill>
              <a:blip r:embed="rId10"/>
              <a:stretch>
                <a:fillRect/>
              </a:stretch>
            </p:blipFill>
            <p:spPr>
              <a:xfrm>
                <a:off x="1842245" y="3382936"/>
                <a:ext cx="92160" cy="2199240"/>
              </a:xfrm>
              <a:prstGeom prst="rect">
                <a:avLst/>
              </a:prstGeom>
            </p:spPr>
          </p:pic>
        </mc:Fallback>
      </mc:AlternateContent>
    </p:spTree>
    <p:extLst>
      <p:ext uri="{BB962C8B-B14F-4D97-AF65-F5344CB8AC3E}">
        <p14:creationId xmlns:p14="http://schemas.microsoft.com/office/powerpoint/2010/main" val="30735888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E1A7C37-3825-F250-3C2E-E9F4CA14189A}"/>
              </a:ext>
            </a:extLst>
          </p:cNvPr>
          <p:cNvSpPr txBox="1"/>
          <p:nvPr/>
        </p:nvSpPr>
        <p:spPr>
          <a:xfrm>
            <a:off x="655983" y="467139"/>
            <a:ext cx="11121887" cy="3970318"/>
          </a:xfrm>
          <a:prstGeom prst="rect">
            <a:avLst/>
          </a:prstGeom>
          <a:noFill/>
        </p:spPr>
        <p:txBody>
          <a:bodyPr wrap="square" rtlCol="0">
            <a:spAutoFit/>
          </a:bodyPr>
          <a:lstStyle/>
          <a:p>
            <a:r>
              <a:rPr lang="en-US" dirty="0"/>
              <a:t>A[0][0] = 3</a:t>
            </a:r>
          </a:p>
          <a:p>
            <a:r>
              <a:rPr lang="en-US" dirty="0"/>
              <a:t>A[0][1] = 4</a:t>
            </a:r>
          </a:p>
          <a:p>
            <a:r>
              <a:rPr lang="en-US" dirty="0"/>
              <a:t>A[0][2] = 6</a:t>
            </a:r>
          </a:p>
          <a:p>
            <a:r>
              <a:rPr lang="en-US" dirty="0"/>
              <a:t>A[1][0] = 4</a:t>
            </a:r>
          </a:p>
          <a:p>
            <a:r>
              <a:rPr lang="en-US" dirty="0"/>
              <a:t>A[1][1] = 5</a:t>
            </a:r>
          </a:p>
          <a:p>
            <a:r>
              <a:rPr lang="en-US" dirty="0"/>
              <a:t>A[1][2] = 7</a:t>
            </a:r>
          </a:p>
          <a:p>
            <a:r>
              <a:rPr lang="en-US" dirty="0"/>
              <a:t>A[2][0] = 5</a:t>
            </a:r>
          </a:p>
          <a:p>
            <a:r>
              <a:rPr lang="en-US" dirty="0"/>
              <a:t>A[2][1] = 3</a:t>
            </a:r>
          </a:p>
          <a:p>
            <a:r>
              <a:rPr lang="en-US" dirty="0"/>
              <a:t>A[2][2] = 1 </a:t>
            </a:r>
          </a:p>
          <a:p>
            <a:r>
              <a:rPr lang="pt-BR" dirty="0"/>
              <a:t>a[0][0]*(a[1][1]*a[2][2]-a[1][2]*a[2][1]) = 3x(5x1-7x3) = 3(5-21) = 3(-16) = -48</a:t>
            </a:r>
          </a:p>
          <a:p>
            <a:r>
              <a:rPr lang="pt-BR" dirty="0"/>
              <a:t>- a[0][1]*(a[1][0]*a[2][2]-a[1][2]*a[2][0]) = 4x(4x1-7x5) = 4(4-35) =-4(-29) = 116</a:t>
            </a:r>
          </a:p>
          <a:p>
            <a:r>
              <a:rPr lang="pt-BR" dirty="0"/>
              <a:t>+ a[0][2]*(a[1][0]*a[2][1]-a[1][1]*a[2][0]) = 6(4x3-5x5) = 6(12-25) =6(13) = 78 </a:t>
            </a:r>
          </a:p>
          <a:p>
            <a:endParaRPr lang="pt-BR" dirty="0"/>
          </a:p>
          <a:p>
            <a:r>
              <a:rPr lang="pt-BR" dirty="0"/>
              <a:t>Det = -48 + 116 +78 = 146</a:t>
            </a:r>
            <a:endParaRPr lang="en-US" dirty="0"/>
          </a:p>
        </p:txBody>
      </p:sp>
    </p:spTree>
    <p:extLst>
      <p:ext uri="{BB962C8B-B14F-4D97-AF65-F5344CB8AC3E}">
        <p14:creationId xmlns:p14="http://schemas.microsoft.com/office/powerpoint/2010/main" val="672888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E2881-3B3B-F8F7-D485-881E7FCDE569}"/>
              </a:ext>
            </a:extLst>
          </p:cNvPr>
          <p:cNvSpPr>
            <a:spLocks noGrp="1"/>
          </p:cNvSpPr>
          <p:nvPr>
            <p:ph type="title"/>
          </p:nvPr>
        </p:nvSpPr>
        <p:spPr/>
        <p:txBody>
          <a:bodyPr/>
          <a:lstStyle/>
          <a:p>
            <a:r>
              <a:rPr lang="en-US" dirty="0"/>
              <a:t>The End</a:t>
            </a:r>
          </a:p>
        </p:txBody>
      </p:sp>
      <p:sp>
        <p:nvSpPr>
          <p:cNvPr id="3" name="Content Placeholder 2">
            <a:extLst>
              <a:ext uri="{FF2B5EF4-FFF2-40B4-BE49-F238E27FC236}">
                <a16:creationId xmlns:a16="http://schemas.microsoft.com/office/drawing/2014/main" id="{D3965CB1-2B33-7085-EE2C-72294BCCFB6C}"/>
              </a:ext>
            </a:extLst>
          </p:cNvPr>
          <p:cNvSpPr>
            <a:spLocks noGrp="1"/>
          </p:cNvSpPr>
          <p:nvPr>
            <p:ph idx="1"/>
          </p:nvPr>
        </p:nvSpPr>
        <p:spPr/>
        <p:txBody>
          <a:bodyPr/>
          <a:lstStyle/>
          <a:p>
            <a:r>
              <a:rPr lang="en-US" dirty="0"/>
              <a:t>In the end we have default statement that if choice </a:t>
            </a:r>
            <a:r>
              <a:rPr lang="en-US" dirty="0" err="1"/>
              <a:t>dosent</a:t>
            </a:r>
            <a:r>
              <a:rPr lang="en-US" dirty="0"/>
              <a:t> matches any case it displays the invalid choice and our program ends</a:t>
            </a:r>
          </a:p>
        </p:txBody>
      </p:sp>
      <p:pic>
        <p:nvPicPr>
          <p:cNvPr id="5" name="Picture 4">
            <a:extLst>
              <a:ext uri="{FF2B5EF4-FFF2-40B4-BE49-F238E27FC236}">
                <a16:creationId xmlns:a16="http://schemas.microsoft.com/office/drawing/2014/main" id="{438032E4-5D62-519B-EEE2-1C2A573B4B22}"/>
              </a:ext>
            </a:extLst>
          </p:cNvPr>
          <p:cNvPicPr>
            <a:picLocks noChangeAspect="1"/>
          </p:cNvPicPr>
          <p:nvPr/>
        </p:nvPicPr>
        <p:blipFill>
          <a:blip r:embed="rId2"/>
          <a:stretch>
            <a:fillRect/>
          </a:stretch>
        </p:blipFill>
        <p:spPr>
          <a:xfrm>
            <a:off x="1918252" y="3110948"/>
            <a:ext cx="7285383" cy="2395330"/>
          </a:xfrm>
          <a:prstGeom prst="rect">
            <a:avLst/>
          </a:prstGeom>
        </p:spPr>
      </p:pic>
    </p:spTree>
    <p:extLst>
      <p:ext uri="{BB962C8B-B14F-4D97-AF65-F5344CB8AC3E}">
        <p14:creationId xmlns:p14="http://schemas.microsoft.com/office/powerpoint/2010/main" val="27086285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377</TotalTime>
  <Words>2341</Words>
  <Application>Microsoft Office PowerPoint</Application>
  <PresentationFormat>Widescreen</PresentationFormat>
  <Paragraphs>254</Paragraphs>
  <Slides>30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Arial</vt:lpstr>
      <vt:lpstr>Calibri</vt:lpstr>
      <vt:lpstr>Calibri Light</vt:lpstr>
      <vt:lpstr>Office Theme</vt:lpstr>
      <vt:lpstr>Matrix Calculator</vt:lpstr>
      <vt:lpstr>Contents</vt:lpstr>
      <vt:lpstr>Matrix</vt:lpstr>
      <vt:lpstr>Why do we use matrices</vt:lpstr>
      <vt:lpstr>Matrix Operations in CCP</vt:lpstr>
      <vt:lpstr>Matrix Addition</vt:lpstr>
      <vt:lpstr>Matrix Subtraction</vt:lpstr>
      <vt:lpstr>Matrix Multiplication</vt:lpstr>
      <vt:lpstr>PowerPoint Presentation</vt:lpstr>
      <vt:lpstr>Transpose of a Matrix</vt:lpstr>
      <vt:lpstr>PowerPoint Presentation</vt:lpstr>
      <vt:lpstr>Determinant of a Matrix</vt:lpstr>
      <vt:lpstr>PowerPoint Presentation</vt:lpstr>
      <vt:lpstr>PowerPoint Presentation</vt:lpstr>
      <vt:lpstr>PowerPoint Presentation</vt:lpstr>
      <vt:lpstr>Algorithm</vt:lpstr>
      <vt:lpstr>PowerPoint Presentation</vt:lpstr>
      <vt:lpstr>The Program</vt:lpstr>
      <vt:lpstr>Declaring the elements</vt:lpstr>
      <vt:lpstr>Showing the Matrices </vt:lpstr>
      <vt:lpstr>Operations</vt:lpstr>
      <vt:lpstr>Addition</vt:lpstr>
      <vt:lpstr>Subtraction</vt:lpstr>
      <vt:lpstr>Multiplication</vt:lpstr>
      <vt:lpstr>PowerPoint Presentation</vt:lpstr>
      <vt:lpstr>Transpose</vt:lpstr>
      <vt:lpstr>PowerPoint Presentation</vt:lpstr>
      <vt:lpstr>Determinant (3x3)</vt:lpstr>
      <vt:lpstr>PowerPoint Presentation</vt:lpstr>
      <vt:lpstr>The 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LENOVO</dc:creator>
  <cp:lastModifiedBy>LENOVO</cp:lastModifiedBy>
  <cp:revision>4</cp:revision>
  <dcterms:created xsi:type="dcterms:W3CDTF">2025-11-08T11:10:36Z</dcterms:created>
  <dcterms:modified xsi:type="dcterms:W3CDTF">2025-11-09T11:59:20Z</dcterms:modified>
</cp:coreProperties>
</file>